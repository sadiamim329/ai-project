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10287000" cx="18288000"/>
  <p:notesSz cx="6858000" cy="9144000"/>
  <p:embeddedFontLst>
    <p:embeddedFont>
      <p:font typeface="Cormorant Garamond"/>
      <p:regular r:id="rId27"/>
      <p:bold r:id="rId28"/>
      <p:italic r:id="rId29"/>
      <p:boldItalic r:id="rId30"/>
    </p:embeddedFont>
    <p:embeddedFont>
      <p:font typeface="Plus Jakarta Sans"/>
      <p:regular r:id="rId31"/>
      <p:bold r:id="rId32"/>
      <p:italic r:id="rId33"/>
      <p:boldItalic r:id="rId34"/>
    </p:embeddedFont>
    <p:embeddedFont>
      <p:font typeface="Outfit"/>
      <p:regular r:id="rId35"/>
      <p:bold r:id="rId36"/>
    </p:embeddedFont>
    <p:embeddedFont>
      <p:font typeface="Quicksand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hIpGLob7E5zkmFt/aMTgHNnIwn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863510-954A-4393-A507-0B24E4DAE526}">
  <a:tblStyle styleId="{38863510-954A-4393-A507-0B24E4DAE52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CormorantGaramond-bold.fntdata"/><Relationship Id="rId27" Type="http://schemas.openxmlformats.org/officeDocument/2006/relationships/font" Target="fonts/CormorantGaramond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CormorantGaramond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lusJakartaSans-regular.fntdata"/><Relationship Id="rId30" Type="http://schemas.openxmlformats.org/officeDocument/2006/relationships/font" Target="fonts/CormorantGaramond-boldItalic.fntdata"/><Relationship Id="rId11" Type="http://schemas.openxmlformats.org/officeDocument/2006/relationships/slide" Target="slides/slide4.xml"/><Relationship Id="rId33" Type="http://schemas.openxmlformats.org/officeDocument/2006/relationships/font" Target="fonts/PlusJakartaSans-italic.fntdata"/><Relationship Id="rId10" Type="http://schemas.openxmlformats.org/officeDocument/2006/relationships/slide" Target="slides/slide3.xml"/><Relationship Id="rId32" Type="http://schemas.openxmlformats.org/officeDocument/2006/relationships/font" Target="fonts/PlusJakartaSans-bold.fntdata"/><Relationship Id="rId13" Type="http://schemas.openxmlformats.org/officeDocument/2006/relationships/slide" Target="slides/slide6.xml"/><Relationship Id="rId35" Type="http://schemas.openxmlformats.org/officeDocument/2006/relationships/font" Target="fonts/Outfit-regular.fntdata"/><Relationship Id="rId12" Type="http://schemas.openxmlformats.org/officeDocument/2006/relationships/slide" Target="slides/slide5.xml"/><Relationship Id="rId34" Type="http://schemas.openxmlformats.org/officeDocument/2006/relationships/font" Target="fonts/PlusJakartaSans-boldItalic.fntdata"/><Relationship Id="rId15" Type="http://schemas.openxmlformats.org/officeDocument/2006/relationships/slide" Target="slides/slide8.xml"/><Relationship Id="rId37" Type="http://schemas.openxmlformats.org/officeDocument/2006/relationships/font" Target="fonts/Quicksand-regular.fntdata"/><Relationship Id="rId14" Type="http://schemas.openxmlformats.org/officeDocument/2006/relationships/slide" Target="slides/slide7.xml"/><Relationship Id="rId36" Type="http://schemas.openxmlformats.org/officeDocument/2006/relationships/font" Target="fonts/Outfit-bold.fntdata"/><Relationship Id="rId17" Type="http://schemas.openxmlformats.org/officeDocument/2006/relationships/slide" Target="slides/slide10.xml"/><Relationship Id="rId39" Type="http://customschemas.google.com/relationships/presentationmetadata" Target="metadata"/><Relationship Id="rId16" Type="http://schemas.openxmlformats.org/officeDocument/2006/relationships/slide" Target="slides/slide9.xml"/><Relationship Id="rId38" Type="http://schemas.openxmlformats.org/officeDocument/2006/relationships/font" Target="fonts/Quicksand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5fa22e98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f5fa22e98e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5fa22e98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f5fa22e98e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5fa22e98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f5fa22e98e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5fa22e98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f5fa22e98e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5fa22e98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3f5fa22e98e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5fa22e98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f5fa22e98e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5fa22e98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f5fa22e98e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5fa22e98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f5fa22e98e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5fa22e98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g3f5fa22e98e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5fa22e98e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g3f5fa22e98e_0_4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5fa22e98e_0_505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88" name="Google Shape;88;g3f5fa22e98e_0_505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89" name="Google Shape;89;g3f5fa22e98e_0_505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5fa22e98e_0_509"/>
          <p:cNvSpPr txBox="1"/>
          <p:nvPr>
            <p:ph type="ctrTitle"/>
          </p:nvPr>
        </p:nvSpPr>
        <p:spPr>
          <a:xfrm>
            <a:off x="1028700" y="3195638"/>
            <a:ext cx="116586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92" name="Google Shape;92;g3f5fa22e98e_0_509"/>
          <p:cNvSpPr txBox="1"/>
          <p:nvPr>
            <p:ph idx="1" type="subTitle"/>
          </p:nvPr>
        </p:nvSpPr>
        <p:spPr>
          <a:xfrm>
            <a:off x="2057400" y="5829300"/>
            <a:ext cx="9601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f5fa22e98e_0_509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94" name="Google Shape;94;g3f5fa22e98e_0_509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95" name="Google Shape;95;g3f5fa22e98e_0_509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5fa22e98e_0_515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98" name="Google Shape;98;g3f5fa22e98e_0_515"/>
          <p:cNvSpPr txBox="1"/>
          <p:nvPr>
            <p:ph idx="1" type="body"/>
          </p:nvPr>
        </p:nvSpPr>
        <p:spPr>
          <a:xfrm>
            <a:off x="685800" y="2400300"/>
            <a:ext cx="12344400" cy="6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00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1pPr>
            <a:lvl2pPr indent="-4000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2pPr>
            <a:lvl3pPr indent="-4000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4pPr>
            <a:lvl5pPr indent="-4000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/>
            </a:lvl5pPr>
            <a:lvl6pPr indent="-4000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99" name="Google Shape;99;g3f5fa22e98e_0_515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00" name="Google Shape;100;g3f5fa22e98e_0_515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01" name="Google Shape;101;g3f5fa22e98e_0_515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5fa22e98e_0_521"/>
          <p:cNvSpPr txBox="1"/>
          <p:nvPr>
            <p:ph type="title"/>
          </p:nvPr>
        </p:nvSpPr>
        <p:spPr>
          <a:xfrm>
            <a:off x="1083470" y="6610350"/>
            <a:ext cx="11658600" cy="20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1" sz="6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04" name="Google Shape;104;g3f5fa22e98e_0_521"/>
          <p:cNvSpPr txBox="1"/>
          <p:nvPr>
            <p:ph idx="1" type="body"/>
          </p:nvPr>
        </p:nvSpPr>
        <p:spPr>
          <a:xfrm>
            <a:off x="1083470" y="4360069"/>
            <a:ext cx="11658600" cy="2250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f5fa22e98e_0_521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06" name="Google Shape;106;g3f5fa22e98e_0_521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07" name="Google Shape;107;g3f5fa22e98e_0_521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5fa22e98e_0_527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10" name="Google Shape;110;g3f5fa22e98e_0_527"/>
          <p:cNvSpPr txBox="1"/>
          <p:nvPr>
            <p:ph idx="1" type="body"/>
          </p:nvPr>
        </p:nvSpPr>
        <p:spPr>
          <a:xfrm>
            <a:off x="685800" y="2400300"/>
            <a:ext cx="6057900" cy="6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95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1pPr>
            <a:lvl2pPr indent="-4572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191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4000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111" name="Google Shape;111;g3f5fa22e98e_0_527"/>
          <p:cNvSpPr txBox="1"/>
          <p:nvPr>
            <p:ph idx="2" type="body"/>
          </p:nvPr>
        </p:nvSpPr>
        <p:spPr>
          <a:xfrm>
            <a:off x="6972300" y="2400300"/>
            <a:ext cx="6057900" cy="6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95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1pPr>
            <a:lvl2pPr indent="-4572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191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4000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112" name="Google Shape;112;g3f5fa22e98e_0_527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13" name="Google Shape;113;g3f5fa22e98e_0_527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14" name="Google Shape;114;g3f5fa22e98e_0_527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fa22e98e_0_534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17" name="Google Shape;117;g3f5fa22e98e_0_534"/>
          <p:cNvSpPr txBox="1"/>
          <p:nvPr>
            <p:ph idx="1" type="body"/>
          </p:nvPr>
        </p:nvSpPr>
        <p:spPr>
          <a:xfrm>
            <a:off x="685800" y="2302670"/>
            <a:ext cx="60603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18" name="Google Shape;118;g3f5fa22e98e_0_534"/>
          <p:cNvSpPr txBox="1"/>
          <p:nvPr>
            <p:ph idx="2" type="body"/>
          </p:nvPr>
        </p:nvSpPr>
        <p:spPr>
          <a:xfrm>
            <a:off x="685800" y="3262313"/>
            <a:ext cx="6060300" cy="5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572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191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4000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119" name="Google Shape;119;g3f5fa22e98e_0_534"/>
          <p:cNvSpPr txBox="1"/>
          <p:nvPr>
            <p:ph idx="3" type="body"/>
          </p:nvPr>
        </p:nvSpPr>
        <p:spPr>
          <a:xfrm>
            <a:off x="6967538" y="2302670"/>
            <a:ext cx="60630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20" name="Google Shape;120;g3f5fa22e98e_0_534"/>
          <p:cNvSpPr txBox="1"/>
          <p:nvPr>
            <p:ph idx="4" type="body"/>
          </p:nvPr>
        </p:nvSpPr>
        <p:spPr>
          <a:xfrm>
            <a:off x="6967538" y="3262313"/>
            <a:ext cx="6063000" cy="5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572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191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4000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121" name="Google Shape;121;g3f5fa22e98e_0_534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22" name="Google Shape;122;g3f5fa22e98e_0_534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23" name="Google Shape;123;g3f5fa22e98e_0_534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5fa22e98e_0_543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26" name="Google Shape;126;g3f5fa22e98e_0_543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27" name="Google Shape;127;g3f5fa22e98e_0_543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28" name="Google Shape;128;g3f5fa22e98e_0_543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5fa22e98e_0_548"/>
          <p:cNvSpPr txBox="1"/>
          <p:nvPr>
            <p:ph type="title"/>
          </p:nvPr>
        </p:nvSpPr>
        <p:spPr>
          <a:xfrm>
            <a:off x="685800" y="409575"/>
            <a:ext cx="45126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31" name="Google Shape;131;g3f5fa22e98e_0_548"/>
          <p:cNvSpPr txBox="1"/>
          <p:nvPr>
            <p:ph idx="1" type="body"/>
          </p:nvPr>
        </p:nvSpPr>
        <p:spPr>
          <a:xfrm>
            <a:off x="5362575" y="409575"/>
            <a:ext cx="7667700" cy="87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5334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indent="-4953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indent="-4572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191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4pPr>
            <a:lvl5pPr indent="-419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  <a:defRPr sz="3000"/>
            </a:lvl5pPr>
            <a:lvl6pPr indent="-4191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indent="-4191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indent="-4191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indent="-4191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/>
        </p:txBody>
      </p:sp>
      <p:sp>
        <p:nvSpPr>
          <p:cNvPr id="132" name="Google Shape;132;g3f5fa22e98e_0_548"/>
          <p:cNvSpPr txBox="1"/>
          <p:nvPr>
            <p:ph idx="2" type="body"/>
          </p:nvPr>
        </p:nvSpPr>
        <p:spPr>
          <a:xfrm>
            <a:off x="685800" y="2152650"/>
            <a:ext cx="4512600" cy="70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133" name="Google Shape;133;g3f5fa22e98e_0_548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34" name="Google Shape;134;g3f5fa22e98e_0_548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35" name="Google Shape;135;g3f5fa22e98e_0_548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5fa22e98e_0_555"/>
          <p:cNvSpPr txBox="1"/>
          <p:nvPr>
            <p:ph type="title"/>
          </p:nvPr>
        </p:nvSpPr>
        <p:spPr>
          <a:xfrm>
            <a:off x="2688432" y="7200900"/>
            <a:ext cx="82296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38" name="Google Shape;138;g3f5fa22e98e_0_555"/>
          <p:cNvSpPr/>
          <p:nvPr>
            <p:ph idx="2" type="pic"/>
          </p:nvPr>
        </p:nvSpPr>
        <p:spPr>
          <a:xfrm>
            <a:off x="2688432" y="919163"/>
            <a:ext cx="8229600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f5fa22e98e_0_555"/>
          <p:cNvSpPr txBox="1"/>
          <p:nvPr>
            <p:ph idx="1" type="body"/>
          </p:nvPr>
        </p:nvSpPr>
        <p:spPr>
          <a:xfrm>
            <a:off x="2688432" y="8051007"/>
            <a:ext cx="8229600" cy="12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140" name="Google Shape;140;g3f5fa22e98e_0_555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1" name="Google Shape;141;g3f5fa22e98e_0_555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2" name="Google Shape;142;g3f5fa22e98e_0_555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fa22e98e_0_562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5" name="Google Shape;145;g3f5fa22e98e_0_562"/>
          <p:cNvSpPr txBox="1"/>
          <p:nvPr>
            <p:ph idx="1" type="body"/>
          </p:nvPr>
        </p:nvSpPr>
        <p:spPr>
          <a:xfrm rot="5400000">
            <a:off x="3463500" y="-377400"/>
            <a:ext cx="6789000" cy="12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00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1pPr>
            <a:lvl2pPr indent="-4000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2pPr>
            <a:lvl3pPr indent="-4000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4pPr>
            <a:lvl5pPr indent="-4000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/>
            </a:lvl5pPr>
            <a:lvl6pPr indent="-4000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146" name="Google Shape;146;g3f5fa22e98e_0_562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7" name="Google Shape;147;g3f5fa22e98e_0_562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8" name="Google Shape;148;g3f5fa22e98e_0_562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fa22e98e_0_568"/>
          <p:cNvSpPr txBox="1"/>
          <p:nvPr>
            <p:ph type="title"/>
          </p:nvPr>
        </p:nvSpPr>
        <p:spPr>
          <a:xfrm rot="5400000">
            <a:off x="7098450" y="3257607"/>
            <a:ext cx="8777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51" name="Google Shape;151;g3f5fa22e98e_0_568"/>
          <p:cNvSpPr txBox="1"/>
          <p:nvPr>
            <p:ph idx="1" type="body"/>
          </p:nvPr>
        </p:nvSpPr>
        <p:spPr>
          <a:xfrm rot="5400000">
            <a:off x="811950" y="285807"/>
            <a:ext cx="8777400" cy="90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00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1pPr>
            <a:lvl2pPr indent="-4000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2pPr>
            <a:lvl3pPr indent="-4000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4pPr>
            <a:lvl5pPr indent="-4000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/>
            </a:lvl5pPr>
            <a:lvl6pPr indent="-4000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152" name="Google Shape;152;g3f5fa22e98e_0_568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53" name="Google Shape;153;g3f5fa22e98e_0_568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54" name="Google Shape;154;g3f5fa22e98e_0_568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fa22e98e_0_499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f5fa22e98e_0_499"/>
          <p:cNvSpPr txBox="1"/>
          <p:nvPr>
            <p:ph idx="1" type="body"/>
          </p:nvPr>
        </p:nvSpPr>
        <p:spPr>
          <a:xfrm>
            <a:off x="685800" y="2400300"/>
            <a:ext cx="12344400" cy="6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533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953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–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2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191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191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191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191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191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191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f5fa22e98e_0_499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f5fa22e98e_0_499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f5fa22e98e_0_499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22.png"/><Relationship Id="rId13" Type="http://schemas.openxmlformats.org/officeDocument/2006/relationships/image" Target="../media/image17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25.png"/><Relationship Id="rId15" Type="http://schemas.openxmlformats.org/officeDocument/2006/relationships/image" Target="../media/image18.png"/><Relationship Id="rId14" Type="http://schemas.openxmlformats.org/officeDocument/2006/relationships/image" Target="../media/image19.png"/><Relationship Id="rId17" Type="http://schemas.openxmlformats.org/officeDocument/2006/relationships/image" Target="../media/image24.png"/><Relationship Id="rId16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1043775" y="2478371"/>
            <a:ext cx="162300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1" lang="en-US" sz="7200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Artificial Intelligence L</a:t>
            </a:r>
            <a:r>
              <a:rPr b="1" i="1" lang="en-US" sz="7200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ab</a:t>
            </a:r>
            <a:endParaRPr b="1" i="1" sz="7200" u="none" cap="none" strike="noStrike">
              <a:solidFill>
                <a:srgbClr val="0F4662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1" lang="en-US" sz="7200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Project Proposal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1"/>
          <p:cNvCxnSpPr/>
          <p:nvPr/>
        </p:nvCxnSpPr>
        <p:spPr>
          <a:xfrm>
            <a:off x="9158735" y="990600"/>
            <a:ext cx="8114971" cy="0"/>
          </a:xfrm>
          <a:prstGeom prst="straightConnector1">
            <a:avLst/>
          </a:prstGeom>
          <a:noFill/>
          <a:ln cap="flat" cmpd="sng" w="76200">
            <a:solidFill>
              <a:srgbClr val="0F46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1"/>
          <p:cNvCxnSpPr/>
          <p:nvPr/>
        </p:nvCxnSpPr>
        <p:spPr>
          <a:xfrm>
            <a:off x="1043764" y="9296400"/>
            <a:ext cx="8114971" cy="0"/>
          </a:xfrm>
          <a:prstGeom prst="straightConnector1">
            <a:avLst/>
          </a:prstGeom>
          <a:noFill/>
          <a:ln cap="flat" cmpd="sng" w="76200">
            <a:solidFill>
              <a:srgbClr val="0F46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1"/>
          <p:cNvSpPr/>
          <p:nvPr/>
        </p:nvSpPr>
        <p:spPr>
          <a:xfrm>
            <a:off x="9618706" y="9037492"/>
            <a:ext cx="2968854" cy="441617"/>
          </a:xfrm>
          <a:custGeom>
            <a:rect b="b" l="l" r="r" t="t"/>
            <a:pathLst>
              <a:path extrusionOk="0"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"/>
          <p:cNvSpPr txBox="1"/>
          <p:nvPr/>
        </p:nvSpPr>
        <p:spPr>
          <a:xfrm>
            <a:off x="2737539" y="5908475"/>
            <a:ext cx="12813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89"/>
              <a:buFont typeface="Arial"/>
              <a:buNone/>
            </a:pPr>
            <a:r>
              <a:rPr b="0" i="0" lang="en-US" sz="4889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KROSH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5649752" y="7032069"/>
            <a:ext cx="69885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1"/>
              <a:buFont typeface="Arial"/>
              <a:buNone/>
            </a:pPr>
            <a:r>
              <a:rPr b="0" i="0" lang="en-US" sz="3141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CSE 3811 | AI Lab | Section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2830454" y="7736844"/>
            <a:ext cx="116436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1"/>
              <a:buFont typeface="Arial"/>
              <a:buNone/>
            </a:pPr>
            <a:r>
              <a:rPr b="0" i="0" lang="en-US" sz="3141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0" i="0" lang="en-US" sz="3141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</a:t>
            </a:r>
            <a:r>
              <a:rPr b="0" i="0" lang="en-US" sz="3141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roup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5646742" y="807892"/>
            <a:ext cx="2968854" cy="441617"/>
          </a:xfrm>
          <a:custGeom>
            <a:rect b="b" l="l" r="r" t="t"/>
            <a:pathLst>
              <a:path extrusionOk="0"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2"/>
          <p:cNvGrpSpPr/>
          <p:nvPr/>
        </p:nvGrpSpPr>
        <p:grpSpPr>
          <a:xfrm>
            <a:off x="0" y="-180826"/>
            <a:ext cx="18288000" cy="4280312"/>
            <a:chOff x="0" y="-47625"/>
            <a:chExt cx="4816593" cy="1127325"/>
          </a:xfrm>
        </p:grpSpPr>
        <p:sp>
          <p:nvSpPr>
            <p:cNvPr id="172" name="Google Shape;172;p2"/>
            <p:cNvSpPr/>
            <p:nvPr/>
          </p:nvSpPr>
          <p:spPr>
            <a:xfrm>
              <a:off x="0" y="0"/>
              <a:ext cx="4816592" cy="1079700"/>
            </a:xfrm>
            <a:custGeom>
              <a:rect b="b" l="l" r="r" t="t"/>
              <a:pathLst>
                <a:path extrusionOk="0"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>
              <a:noFill/>
            </a:ln>
          </p:spPr>
        </p:sp>
        <p:sp>
          <p:nvSpPr>
            <p:cNvPr id="173" name="Google Shape;173;p2"/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2"/>
          <p:cNvSpPr txBox="1"/>
          <p:nvPr/>
        </p:nvSpPr>
        <p:spPr>
          <a:xfrm>
            <a:off x="1028700" y="599709"/>
            <a:ext cx="9915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1" lang="en-US" sz="7200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Our Team 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"/>
          <p:cNvSpPr txBox="1"/>
          <p:nvPr/>
        </p:nvSpPr>
        <p:spPr>
          <a:xfrm>
            <a:off x="6635340" y="6132682"/>
            <a:ext cx="5017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Adham Zarif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"/>
          <p:cNvSpPr txBox="1"/>
          <p:nvPr/>
        </p:nvSpPr>
        <p:spPr>
          <a:xfrm>
            <a:off x="6635340" y="6757320"/>
            <a:ext cx="50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ID: 112330721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"/>
          <p:cNvSpPr txBox="1"/>
          <p:nvPr/>
        </p:nvSpPr>
        <p:spPr>
          <a:xfrm>
            <a:off x="12241980" y="6129792"/>
            <a:ext cx="5017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Saber Hassan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"/>
          <p:cNvSpPr txBox="1"/>
          <p:nvPr/>
        </p:nvSpPr>
        <p:spPr>
          <a:xfrm>
            <a:off x="12156530" y="6671895"/>
            <a:ext cx="50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ID: 112330870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1028700" y="6132682"/>
            <a:ext cx="5017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Sadia Islam Mim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"/>
          <p:cNvSpPr txBox="1"/>
          <p:nvPr/>
        </p:nvSpPr>
        <p:spPr>
          <a:xfrm>
            <a:off x="1028700" y="6760210"/>
            <a:ext cx="50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ID: 112330329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2"/>
          <p:cNvCxnSpPr/>
          <p:nvPr/>
        </p:nvCxnSpPr>
        <p:spPr>
          <a:xfrm>
            <a:off x="5897880" y="8681205"/>
            <a:ext cx="6492240" cy="0"/>
          </a:xfrm>
          <a:prstGeom prst="straightConnector1">
            <a:avLst/>
          </a:prstGeom>
          <a:noFill/>
          <a:ln cap="flat" cmpd="sng" w="76200">
            <a:solidFill>
              <a:srgbClr val="0F46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2"/>
          <p:cNvSpPr/>
          <p:nvPr/>
        </p:nvSpPr>
        <p:spPr>
          <a:xfrm>
            <a:off x="8304001" y="9529723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"/>
          <p:cNvSpPr txBox="1"/>
          <p:nvPr/>
        </p:nvSpPr>
        <p:spPr>
          <a:xfrm>
            <a:off x="4163754" y="4293667"/>
            <a:ext cx="99606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Checkers- Krosh</a:t>
            </a:r>
            <a:br>
              <a:rPr b="0" i="0" lang="en-US" sz="36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0" i="0" lang="en-US" sz="30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 a l l u c i n a t i n g  o u r  c h i l d h o o d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3"/>
          <p:cNvCxnSpPr/>
          <p:nvPr/>
        </p:nvCxnSpPr>
        <p:spPr>
          <a:xfrm>
            <a:off x="5897880" y="3568974"/>
            <a:ext cx="6492240" cy="0"/>
          </a:xfrm>
          <a:prstGeom prst="straightConnector1">
            <a:avLst/>
          </a:prstGeom>
          <a:noFill/>
          <a:ln cap="flat" cmpd="sng" w="76200">
            <a:solidFill>
              <a:srgbClr val="0F46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3"/>
          <p:cNvCxnSpPr/>
          <p:nvPr/>
        </p:nvCxnSpPr>
        <p:spPr>
          <a:xfrm>
            <a:off x="5897880" y="7171009"/>
            <a:ext cx="6492240" cy="0"/>
          </a:xfrm>
          <a:prstGeom prst="straightConnector1">
            <a:avLst/>
          </a:prstGeom>
          <a:noFill/>
          <a:ln cap="flat" cmpd="sng" w="76200">
            <a:solidFill>
              <a:srgbClr val="0F46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3"/>
          <p:cNvSpPr/>
          <p:nvPr/>
        </p:nvSpPr>
        <p:spPr>
          <a:xfrm>
            <a:off x="8304001" y="2470557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3"/>
          <p:cNvSpPr txBox="1"/>
          <p:nvPr/>
        </p:nvSpPr>
        <p:spPr>
          <a:xfrm>
            <a:off x="1028700" y="599709"/>
            <a:ext cx="8048163" cy="1085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8304001" y="8019527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g3f5fa22e98e_0_15"/>
          <p:cNvGrpSpPr/>
          <p:nvPr/>
        </p:nvGrpSpPr>
        <p:grpSpPr>
          <a:xfrm>
            <a:off x="14093893" y="-164978"/>
            <a:ext cx="4194135" cy="10452106"/>
            <a:chOff x="0" y="-47625"/>
            <a:chExt cx="1104621" cy="2752800"/>
          </a:xfrm>
        </p:grpSpPr>
        <p:sp>
          <p:nvSpPr>
            <p:cNvPr id="198" name="Google Shape;198;g3f5fa22e98e_0_15"/>
            <p:cNvSpPr/>
            <p:nvPr/>
          </p:nvSpPr>
          <p:spPr>
            <a:xfrm>
              <a:off x="0" y="0"/>
              <a:ext cx="1104621" cy="2705159"/>
            </a:xfrm>
            <a:custGeom>
              <a:rect b="b" l="l" r="r" t="t"/>
              <a:pathLst>
                <a:path extrusionOk="0"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</p:spPr>
        </p:sp>
        <p:sp>
          <p:nvSpPr>
            <p:cNvPr id="199" name="Google Shape;199;g3f5fa22e98e_0_15"/>
            <p:cNvSpPr txBox="1"/>
            <p:nvPr/>
          </p:nvSpPr>
          <p:spPr>
            <a:xfrm>
              <a:off x="0" y="-47625"/>
              <a:ext cx="1104600" cy="27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g3f5fa22e98e_0_15"/>
          <p:cNvSpPr/>
          <p:nvPr/>
        </p:nvSpPr>
        <p:spPr>
          <a:xfrm>
            <a:off x="1028700" y="8974931"/>
            <a:ext cx="1905000" cy="283369"/>
          </a:xfrm>
          <a:custGeom>
            <a:rect b="b" l="l" r="r" t="t"/>
            <a:pathLst>
              <a:path extrusionOk="0"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g3f5fa22e98e_0_15"/>
          <p:cNvSpPr txBox="1"/>
          <p:nvPr/>
        </p:nvSpPr>
        <p:spPr>
          <a:xfrm>
            <a:off x="1028700" y="599709"/>
            <a:ext cx="93903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Checkers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5fa22e98e_0_15"/>
          <p:cNvSpPr txBox="1"/>
          <p:nvPr/>
        </p:nvSpPr>
        <p:spPr>
          <a:xfrm>
            <a:off x="1028700" y="3386084"/>
            <a:ext cx="6938100" cy="60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 players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Each player starts with 12 dices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Initially, the die can only move forward in a diagonal direction.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3" name="Google Shape;203;g3f5fa22e98e_0_15"/>
          <p:cNvSpPr txBox="1"/>
          <p:nvPr/>
        </p:nvSpPr>
        <p:spPr>
          <a:xfrm>
            <a:off x="1028700" y="2823184"/>
            <a:ext cx="69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Current scenario: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3f5fa22e98e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22650" y="2061647"/>
            <a:ext cx="6380950" cy="639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g3f5fa22e98e_0_45"/>
          <p:cNvGrpSpPr/>
          <p:nvPr/>
        </p:nvGrpSpPr>
        <p:grpSpPr>
          <a:xfrm>
            <a:off x="14093893" y="-164978"/>
            <a:ext cx="4194135" cy="10452106"/>
            <a:chOff x="0" y="-47625"/>
            <a:chExt cx="1104621" cy="2752800"/>
          </a:xfrm>
        </p:grpSpPr>
        <p:sp>
          <p:nvSpPr>
            <p:cNvPr id="210" name="Google Shape;210;g3f5fa22e98e_0_45"/>
            <p:cNvSpPr/>
            <p:nvPr/>
          </p:nvSpPr>
          <p:spPr>
            <a:xfrm>
              <a:off x="0" y="0"/>
              <a:ext cx="1104621" cy="2705159"/>
            </a:xfrm>
            <a:custGeom>
              <a:rect b="b" l="l" r="r" t="t"/>
              <a:pathLst>
                <a:path extrusionOk="0"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</p:spPr>
        </p:sp>
        <p:sp>
          <p:nvSpPr>
            <p:cNvPr id="211" name="Google Shape;211;g3f5fa22e98e_0_45"/>
            <p:cNvSpPr txBox="1"/>
            <p:nvPr/>
          </p:nvSpPr>
          <p:spPr>
            <a:xfrm>
              <a:off x="0" y="-47625"/>
              <a:ext cx="1104600" cy="27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g3f5fa22e98e_0_45"/>
          <p:cNvSpPr/>
          <p:nvPr/>
        </p:nvSpPr>
        <p:spPr>
          <a:xfrm>
            <a:off x="1028700" y="8974931"/>
            <a:ext cx="1905000" cy="283369"/>
          </a:xfrm>
          <a:custGeom>
            <a:rect b="b" l="l" r="r" t="t"/>
            <a:pathLst>
              <a:path extrusionOk="0"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g3f5fa22e98e_0_45"/>
          <p:cNvSpPr txBox="1"/>
          <p:nvPr/>
        </p:nvSpPr>
        <p:spPr>
          <a:xfrm>
            <a:off x="1028700" y="599709"/>
            <a:ext cx="93903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Checkers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f5fa22e98e_0_45"/>
          <p:cNvSpPr txBox="1"/>
          <p:nvPr/>
        </p:nvSpPr>
        <p:spPr>
          <a:xfrm>
            <a:off x="1028700" y="3386084"/>
            <a:ext cx="6938100" cy="6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 players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Each player starts with 12 dices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Initially, the die can only move forward in a diagonal direction.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Capture pieces by leaping over them, multiple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captures possible.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5" name="Google Shape;215;g3f5fa22e98e_0_45"/>
          <p:cNvSpPr txBox="1"/>
          <p:nvPr/>
        </p:nvSpPr>
        <p:spPr>
          <a:xfrm>
            <a:off x="1028700" y="2823184"/>
            <a:ext cx="69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Current scenario: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g3f5fa22e98e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7875" y="1737075"/>
            <a:ext cx="7928026" cy="664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g3f5fa22e98e_0_58"/>
          <p:cNvGrpSpPr/>
          <p:nvPr/>
        </p:nvGrpSpPr>
        <p:grpSpPr>
          <a:xfrm>
            <a:off x="14093893" y="-164978"/>
            <a:ext cx="4194135" cy="10452106"/>
            <a:chOff x="0" y="-47625"/>
            <a:chExt cx="1104621" cy="2752800"/>
          </a:xfrm>
        </p:grpSpPr>
        <p:sp>
          <p:nvSpPr>
            <p:cNvPr id="222" name="Google Shape;222;g3f5fa22e98e_0_58"/>
            <p:cNvSpPr/>
            <p:nvPr/>
          </p:nvSpPr>
          <p:spPr>
            <a:xfrm>
              <a:off x="0" y="0"/>
              <a:ext cx="1104621" cy="2705159"/>
            </a:xfrm>
            <a:custGeom>
              <a:rect b="b" l="l" r="r" t="t"/>
              <a:pathLst>
                <a:path extrusionOk="0"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</p:spPr>
        </p:sp>
        <p:sp>
          <p:nvSpPr>
            <p:cNvPr id="223" name="Google Shape;223;g3f5fa22e98e_0_58"/>
            <p:cNvSpPr txBox="1"/>
            <p:nvPr/>
          </p:nvSpPr>
          <p:spPr>
            <a:xfrm>
              <a:off x="0" y="-47625"/>
              <a:ext cx="1104600" cy="27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g3f5fa22e98e_0_58"/>
          <p:cNvSpPr/>
          <p:nvPr/>
        </p:nvSpPr>
        <p:spPr>
          <a:xfrm>
            <a:off x="1028700" y="8974931"/>
            <a:ext cx="1905000" cy="283369"/>
          </a:xfrm>
          <a:custGeom>
            <a:rect b="b" l="l" r="r" t="t"/>
            <a:pathLst>
              <a:path extrusionOk="0"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g3f5fa22e98e_0_58"/>
          <p:cNvSpPr txBox="1"/>
          <p:nvPr/>
        </p:nvSpPr>
        <p:spPr>
          <a:xfrm>
            <a:off x="1028700" y="599709"/>
            <a:ext cx="93903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Checkers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f5fa22e98e_0_58"/>
          <p:cNvSpPr txBox="1"/>
          <p:nvPr/>
        </p:nvSpPr>
        <p:spPr>
          <a:xfrm>
            <a:off x="704025" y="2463325"/>
            <a:ext cx="8268900" cy="85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 players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Each player starts with 12 dices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Initially, the die can only move forward in a diagonal direction.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Capture pieces by leaping over them, multiple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captures possible.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When a piece reaches the opponent's king row, it becomes a King (or gets 'crowned') and gains the ability to move both forward and backward.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27" name="Google Shape;227;g3f5fa22e98e_0_58"/>
          <p:cNvSpPr txBox="1"/>
          <p:nvPr/>
        </p:nvSpPr>
        <p:spPr>
          <a:xfrm>
            <a:off x="1028700" y="1951457"/>
            <a:ext cx="69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Current scenario: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g3f5fa22e98e_0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19000" y="1584600"/>
            <a:ext cx="6025625" cy="602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g3f5fa22e98e_0_69"/>
          <p:cNvGrpSpPr/>
          <p:nvPr/>
        </p:nvGrpSpPr>
        <p:grpSpPr>
          <a:xfrm>
            <a:off x="14093893" y="-164978"/>
            <a:ext cx="4194135" cy="10452106"/>
            <a:chOff x="0" y="-47625"/>
            <a:chExt cx="1104621" cy="2752800"/>
          </a:xfrm>
        </p:grpSpPr>
        <p:sp>
          <p:nvSpPr>
            <p:cNvPr id="234" name="Google Shape;234;g3f5fa22e98e_0_69"/>
            <p:cNvSpPr/>
            <p:nvPr/>
          </p:nvSpPr>
          <p:spPr>
            <a:xfrm>
              <a:off x="0" y="0"/>
              <a:ext cx="1104621" cy="2705159"/>
            </a:xfrm>
            <a:custGeom>
              <a:rect b="b" l="l" r="r" t="t"/>
              <a:pathLst>
                <a:path extrusionOk="0"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</p:spPr>
        </p:sp>
        <p:sp>
          <p:nvSpPr>
            <p:cNvPr id="235" name="Google Shape;235;g3f5fa22e98e_0_69"/>
            <p:cNvSpPr txBox="1"/>
            <p:nvPr/>
          </p:nvSpPr>
          <p:spPr>
            <a:xfrm>
              <a:off x="0" y="-47625"/>
              <a:ext cx="1104600" cy="27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g3f5fa22e98e_0_69"/>
          <p:cNvSpPr/>
          <p:nvPr/>
        </p:nvSpPr>
        <p:spPr>
          <a:xfrm>
            <a:off x="1028700" y="8974931"/>
            <a:ext cx="1905000" cy="283369"/>
          </a:xfrm>
          <a:custGeom>
            <a:rect b="b" l="l" r="r" t="t"/>
            <a:pathLst>
              <a:path extrusionOk="0"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g3f5fa22e98e_0_69"/>
          <p:cNvSpPr txBox="1"/>
          <p:nvPr/>
        </p:nvSpPr>
        <p:spPr>
          <a:xfrm>
            <a:off x="1028700" y="599709"/>
            <a:ext cx="93903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Checkers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f5fa22e98e_0_69"/>
          <p:cNvSpPr txBox="1"/>
          <p:nvPr/>
        </p:nvSpPr>
        <p:spPr>
          <a:xfrm>
            <a:off x="704025" y="2463325"/>
            <a:ext cx="8268900" cy="9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 players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Each player starts with 12 dices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Initially, the die can only move forward in a diagonal direction.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Capture pieces by leaping over them, multiple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captures possible.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When a piece reaches the opponent's king row, it becomes a King (or gets 'crowned') and gains the ability to move both forward and backward.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Win by capturing opponent’s pieces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9" name="Google Shape;239;g3f5fa22e98e_0_69"/>
          <p:cNvSpPr txBox="1"/>
          <p:nvPr/>
        </p:nvSpPr>
        <p:spPr>
          <a:xfrm>
            <a:off x="1028700" y="1951457"/>
            <a:ext cx="69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Current scenario: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g3f5fa22e98e_0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5325" y="1737000"/>
            <a:ext cx="8494001" cy="58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g3f5fa22e98e_0_3"/>
          <p:cNvGrpSpPr/>
          <p:nvPr/>
        </p:nvGrpSpPr>
        <p:grpSpPr>
          <a:xfrm>
            <a:off x="14093893" y="-164978"/>
            <a:ext cx="4194135" cy="10452106"/>
            <a:chOff x="0" y="-47625"/>
            <a:chExt cx="1104621" cy="2752800"/>
          </a:xfrm>
        </p:grpSpPr>
        <p:sp>
          <p:nvSpPr>
            <p:cNvPr id="246" name="Google Shape;246;g3f5fa22e98e_0_3"/>
            <p:cNvSpPr/>
            <p:nvPr/>
          </p:nvSpPr>
          <p:spPr>
            <a:xfrm>
              <a:off x="0" y="0"/>
              <a:ext cx="1104621" cy="2705159"/>
            </a:xfrm>
            <a:custGeom>
              <a:rect b="b" l="l" r="r" t="t"/>
              <a:pathLst>
                <a:path extrusionOk="0"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</p:spPr>
        </p:sp>
        <p:sp>
          <p:nvSpPr>
            <p:cNvPr id="247" name="Google Shape;247;g3f5fa22e98e_0_3"/>
            <p:cNvSpPr txBox="1"/>
            <p:nvPr/>
          </p:nvSpPr>
          <p:spPr>
            <a:xfrm>
              <a:off x="0" y="-47625"/>
              <a:ext cx="1104600" cy="27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g3f5fa22e98e_0_3"/>
          <p:cNvSpPr/>
          <p:nvPr/>
        </p:nvSpPr>
        <p:spPr>
          <a:xfrm>
            <a:off x="1028700" y="8974931"/>
            <a:ext cx="1905000" cy="283369"/>
          </a:xfrm>
          <a:custGeom>
            <a:rect b="b" l="l" r="r" t="t"/>
            <a:pathLst>
              <a:path extrusionOk="0"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g3f5fa22e98e_0_3"/>
          <p:cNvSpPr txBox="1"/>
          <p:nvPr/>
        </p:nvSpPr>
        <p:spPr>
          <a:xfrm>
            <a:off x="1028700" y="599709"/>
            <a:ext cx="93903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f5fa22e98e_0_3"/>
          <p:cNvSpPr txBox="1"/>
          <p:nvPr/>
        </p:nvSpPr>
        <p:spPr>
          <a:xfrm>
            <a:off x="1028700" y="3386084"/>
            <a:ext cx="6938100" cy="2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sentimental value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simple game with simple rules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time constraint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complexity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1" name="Google Shape;251;g3f5fa22e98e_0_3"/>
          <p:cNvSpPr txBox="1"/>
          <p:nvPr/>
        </p:nvSpPr>
        <p:spPr>
          <a:xfrm>
            <a:off x="1028700" y="2823184"/>
            <a:ext cx="69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5fa22e98e_0_86"/>
          <p:cNvSpPr/>
          <p:nvPr/>
        </p:nvSpPr>
        <p:spPr>
          <a:xfrm>
            <a:off x="14093893" y="15849"/>
            <a:ext cx="4194135" cy="10271218"/>
          </a:xfrm>
          <a:custGeom>
            <a:rect b="b" l="l" r="r" t="t"/>
            <a:pathLst>
              <a:path extrusionOk="0" h="2705159" w="1104621">
                <a:moveTo>
                  <a:pt x="0" y="0"/>
                </a:moveTo>
                <a:lnTo>
                  <a:pt x="1104621" y="0"/>
                </a:lnTo>
                <a:lnTo>
                  <a:pt x="1104621" y="2705159"/>
                </a:lnTo>
                <a:lnTo>
                  <a:pt x="0" y="2705159"/>
                </a:lnTo>
                <a:close/>
              </a:path>
            </a:pathLst>
          </a:custGeom>
          <a:solidFill>
            <a:srgbClr val="7994A0"/>
          </a:solidFill>
          <a:ln>
            <a:noFill/>
          </a:ln>
        </p:spPr>
      </p:sp>
      <p:sp>
        <p:nvSpPr>
          <p:cNvPr id="257" name="Google Shape;257;g3f5fa22e98e_0_86"/>
          <p:cNvSpPr/>
          <p:nvPr/>
        </p:nvSpPr>
        <p:spPr>
          <a:xfrm>
            <a:off x="1028700" y="8974931"/>
            <a:ext cx="1905000" cy="283369"/>
          </a:xfrm>
          <a:custGeom>
            <a:rect b="b" l="l" r="r" t="t"/>
            <a:pathLst>
              <a:path extrusionOk="0"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g3f5fa22e98e_0_86"/>
          <p:cNvSpPr txBox="1"/>
          <p:nvPr/>
        </p:nvSpPr>
        <p:spPr>
          <a:xfrm>
            <a:off x="1028700" y="599709"/>
            <a:ext cx="93903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Our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f5fa22e98e_0_86"/>
          <p:cNvSpPr txBox="1"/>
          <p:nvPr/>
        </p:nvSpPr>
        <p:spPr>
          <a:xfrm>
            <a:off x="1028700" y="3386084"/>
            <a:ext cx="6938100" cy="28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KROSH is an offline single-player Checkers game where the human plays against four classical AI opponents — Greedy Search, full Minimax, Alpha-Beta pruning, and Monte Carlo Tree Search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"/>
          <p:cNvSpPr txBox="1"/>
          <p:nvPr/>
        </p:nvSpPr>
        <p:spPr>
          <a:xfrm>
            <a:off x="1024384" y="599709"/>
            <a:ext cx="140721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Key Features &amp; User Actions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1024357" y="1863134"/>
            <a:ext cx="16321500" cy="7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4 game modes: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1. Play vs Greedy AI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</a:t>
            </a: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Fast, one-ply opponent — the beginner tier of the ladder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Ideal for learning the interface and warming up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2. Play vs Minimax / Alpha-Beta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Adjustable search depth (2 to 8 plies) with depth slider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Full-tree adversarial reasoning with optional pruning toggle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3. Play vs MCTS 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7350" lvl="0" marL="9144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500"/>
              <a:buFont typeface="Quicksand"/>
              <a:buChar char="-"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Configurable rollout budget for the MCTS opponent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7350" lvl="0" marL="9144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500"/>
              <a:buFont typeface="Quicksand"/>
              <a:buChar char="-"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User flow: pick opponent → place moves via click/drag on Pygame board → end-of-game stats screen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4. Play vs Hybrid AI</a:t>
            </a:r>
            <a:endParaRPr b="1" sz="250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	</a:t>
            </a:r>
            <a:r>
              <a:rPr lang="en-US" sz="2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Switches engine by game phase — Minimax/α-β in the opening &amp; midgame, MCTS once the branching    factor drops in the endgame</a:t>
            </a:r>
            <a:endParaRPr sz="250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Adaptive difficulty that mirrors human play: deliberate in the middle, decisive at the end</a:t>
            </a:r>
            <a:endParaRPr b="1" sz="250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15579303" y="714009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6"/>
          <p:cNvSpPr/>
          <p:nvPr/>
        </p:nvSpPr>
        <p:spPr>
          <a:xfrm>
            <a:off x="1024384" y="9529723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"/>
          <p:cNvSpPr txBox="1"/>
          <p:nvPr/>
        </p:nvSpPr>
        <p:spPr>
          <a:xfrm>
            <a:off x="1024384" y="599709"/>
            <a:ext cx="140721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Methodology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"/>
          <p:cNvSpPr txBox="1"/>
          <p:nvPr/>
        </p:nvSpPr>
        <p:spPr>
          <a:xfrm>
            <a:off x="1024357" y="2649184"/>
            <a:ext cx="16321500" cy="57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3 phases: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1. Minimax Algorithm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Full game tree expansion using minimax to maximize score and minimize opponent's gain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Static board evaluation heuristic for non-terminal states 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2. Greedy Search 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Fast, heuristic-guided state expansion for immediate optimal choices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Local best-first evaluation prioritizing short-term gain over deep tree search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3. Monte Carlo Tree Search (MCTS)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7350" lvl="0" marL="9144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500"/>
              <a:buFont typeface="Quicksand"/>
              <a:buChar char="-"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Probabilistic tree expansion via Monte Carlo rollouts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7350" lvl="0" marL="9144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500"/>
              <a:buFont typeface="Quicksand"/>
              <a:buChar char="-"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Selection, Expansion, Simulation, and Backpropagation phases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7350" lvl="0" marL="9144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500"/>
              <a:buFont typeface="Quicksand"/>
              <a:buChar char="-"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Unbiased evaluation for deep game trees without domain heuristics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15579303" y="714009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5"/>
          <p:cNvSpPr/>
          <p:nvPr/>
        </p:nvSpPr>
        <p:spPr>
          <a:xfrm>
            <a:off x="1024384" y="9529723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g3f5fa22e98e_0_102"/>
          <p:cNvGrpSpPr/>
          <p:nvPr/>
        </p:nvGrpSpPr>
        <p:grpSpPr>
          <a:xfrm>
            <a:off x="14093893" y="-164978"/>
            <a:ext cx="4194135" cy="10452106"/>
            <a:chOff x="0" y="-47625"/>
            <a:chExt cx="1104621" cy="2752800"/>
          </a:xfrm>
        </p:grpSpPr>
        <p:sp>
          <p:nvSpPr>
            <p:cNvPr id="281" name="Google Shape;281;g3f5fa22e98e_0_102"/>
            <p:cNvSpPr/>
            <p:nvPr/>
          </p:nvSpPr>
          <p:spPr>
            <a:xfrm>
              <a:off x="0" y="0"/>
              <a:ext cx="1104621" cy="2705159"/>
            </a:xfrm>
            <a:custGeom>
              <a:rect b="b" l="l" r="r" t="t"/>
              <a:pathLst>
                <a:path extrusionOk="0"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</p:spPr>
        </p:sp>
        <p:sp>
          <p:nvSpPr>
            <p:cNvPr id="282" name="Google Shape;282;g3f5fa22e98e_0_102"/>
            <p:cNvSpPr txBox="1"/>
            <p:nvPr/>
          </p:nvSpPr>
          <p:spPr>
            <a:xfrm>
              <a:off x="0" y="-47625"/>
              <a:ext cx="1104600" cy="27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g3f5fa22e98e_0_102"/>
          <p:cNvSpPr/>
          <p:nvPr/>
        </p:nvSpPr>
        <p:spPr>
          <a:xfrm>
            <a:off x="1028700" y="8974931"/>
            <a:ext cx="1905000" cy="283369"/>
          </a:xfrm>
          <a:custGeom>
            <a:rect b="b" l="l" r="r" t="t"/>
            <a:pathLst>
              <a:path extrusionOk="0"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g3f5fa22e98e_0_102"/>
          <p:cNvSpPr txBox="1"/>
          <p:nvPr/>
        </p:nvSpPr>
        <p:spPr>
          <a:xfrm>
            <a:off x="1028700" y="2291259"/>
            <a:ext cx="93903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Minimax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f5fa22e98e_0_102"/>
          <p:cNvSpPr txBox="1"/>
          <p:nvPr/>
        </p:nvSpPr>
        <p:spPr>
          <a:xfrm>
            <a:off x="1102950" y="3934584"/>
            <a:ext cx="6938100" cy="2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Full game tree expansion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Maximize score and minimize opponent's gain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Static board evaluation heuristic for non-terminal states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6" name="Google Shape;286;g3f5fa22e98e_0_102"/>
          <p:cNvSpPr txBox="1"/>
          <p:nvPr/>
        </p:nvSpPr>
        <p:spPr>
          <a:xfrm>
            <a:off x="1028700" y="2823184"/>
            <a:ext cx="69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g3f5fa22e98e_0_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450" y="1758671"/>
            <a:ext cx="8445924" cy="608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g3f5fa22e98e_0_124"/>
          <p:cNvGrpSpPr/>
          <p:nvPr/>
        </p:nvGrpSpPr>
        <p:grpSpPr>
          <a:xfrm>
            <a:off x="14093893" y="-164978"/>
            <a:ext cx="4194135" cy="10452106"/>
            <a:chOff x="0" y="-47625"/>
            <a:chExt cx="1104621" cy="2752800"/>
          </a:xfrm>
        </p:grpSpPr>
        <p:sp>
          <p:nvSpPr>
            <p:cNvPr id="293" name="Google Shape;293;g3f5fa22e98e_0_124"/>
            <p:cNvSpPr/>
            <p:nvPr/>
          </p:nvSpPr>
          <p:spPr>
            <a:xfrm>
              <a:off x="0" y="0"/>
              <a:ext cx="1104621" cy="2705159"/>
            </a:xfrm>
            <a:custGeom>
              <a:rect b="b" l="l" r="r" t="t"/>
              <a:pathLst>
                <a:path extrusionOk="0"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</p:spPr>
        </p:sp>
        <p:sp>
          <p:nvSpPr>
            <p:cNvPr id="294" name="Google Shape;294;g3f5fa22e98e_0_124"/>
            <p:cNvSpPr txBox="1"/>
            <p:nvPr/>
          </p:nvSpPr>
          <p:spPr>
            <a:xfrm>
              <a:off x="0" y="-47625"/>
              <a:ext cx="1104600" cy="27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g3f5fa22e98e_0_124"/>
          <p:cNvSpPr/>
          <p:nvPr/>
        </p:nvSpPr>
        <p:spPr>
          <a:xfrm>
            <a:off x="1028700" y="8974931"/>
            <a:ext cx="1905000" cy="283369"/>
          </a:xfrm>
          <a:custGeom>
            <a:rect b="b" l="l" r="r" t="t"/>
            <a:pathLst>
              <a:path extrusionOk="0"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g3f5fa22e98e_0_124"/>
          <p:cNvSpPr txBox="1"/>
          <p:nvPr/>
        </p:nvSpPr>
        <p:spPr>
          <a:xfrm>
            <a:off x="1028700" y="2823184"/>
            <a:ext cx="93903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50"/>
              <a:buFont typeface="Arial"/>
              <a:buNone/>
            </a:pPr>
            <a:r>
              <a:rPr b="1" i="1" lang="en-US" sz="6350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Greedy Search</a:t>
            </a:r>
            <a:endParaRPr b="1" i="1" sz="6350" u="none" cap="none" strike="noStrike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297" name="Google Shape;297;g3f5fa22e98e_0_124"/>
          <p:cNvSpPr txBox="1"/>
          <p:nvPr/>
        </p:nvSpPr>
        <p:spPr>
          <a:xfrm>
            <a:off x="1028700" y="4751475"/>
            <a:ext cx="74145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Greedy search implementation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Heuristic-driven best-first expansion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Fast evaluation without full game tree expansion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98" name="Google Shape;298;g3f5fa22e98e_0_124"/>
          <p:cNvSpPr txBox="1"/>
          <p:nvPr/>
        </p:nvSpPr>
        <p:spPr>
          <a:xfrm>
            <a:off x="1028700" y="2823184"/>
            <a:ext cx="69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g3f5fa22e98e_0_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1145" y="2402681"/>
            <a:ext cx="8417374" cy="48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g3f5fa22e98e_0_159"/>
          <p:cNvGrpSpPr/>
          <p:nvPr/>
        </p:nvGrpSpPr>
        <p:grpSpPr>
          <a:xfrm>
            <a:off x="14093893" y="-164978"/>
            <a:ext cx="4194135" cy="10452106"/>
            <a:chOff x="0" y="-47625"/>
            <a:chExt cx="1104621" cy="2752800"/>
          </a:xfrm>
        </p:grpSpPr>
        <p:sp>
          <p:nvSpPr>
            <p:cNvPr id="305" name="Google Shape;305;g3f5fa22e98e_0_159"/>
            <p:cNvSpPr/>
            <p:nvPr/>
          </p:nvSpPr>
          <p:spPr>
            <a:xfrm>
              <a:off x="0" y="0"/>
              <a:ext cx="1104621" cy="2705159"/>
            </a:xfrm>
            <a:custGeom>
              <a:rect b="b" l="l" r="r" t="t"/>
              <a:pathLst>
                <a:path extrusionOk="0"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</p:spPr>
        </p:sp>
        <p:sp>
          <p:nvSpPr>
            <p:cNvPr id="306" name="Google Shape;306;g3f5fa22e98e_0_159"/>
            <p:cNvSpPr txBox="1"/>
            <p:nvPr/>
          </p:nvSpPr>
          <p:spPr>
            <a:xfrm>
              <a:off x="0" y="-47625"/>
              <a:ext cx="1104600" cy="27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g3f5fa22e98e_0_159"/>
          <p:cNvSpPr/>
          <p:nvPr/>
        </p:nvSpPr>
        <p:spPr>
          <a:xfrm>
            <a:off x="1028700" y="8974931"/>
            <a:ext cx="1905000" cy="283369"/>
          </a:xfrm>
          <a:custGeom>
            <a:rect b="b" l="l" r="r" t="t"/>
            <a:pathLst>
              <a:path extrusionOk="0"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g3f5fa22e98e_0_159"/>
          <p:cNvSpPr txBox="1"/>
          <p:nvPr/>
        </p:nvSpPr>
        <p:spPr>
          <a:xfrm>
            <a:off x="1028700" y="2061175"/>
            <a:ext cx="111738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50"/>
              <a:buFont typeface="Arial"/>
              <a:buNone/>
            </a:pPr>
            <a:r>
              <a:rPr b="1" i="1" lang="en-US" sz="6350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Monte Carlo Tree Search (MCTS)</a:t>
            </a:r>
            <a:endParaRPr b="1" i="1" sz="6350" u="none" cap="none" strike="noStrike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309" name="Google Shape;309;g3f5fa22e98e_0_159"/>
          <p:cNvSpPr txBox="1"/>
          <p:nvPr/>
        </p:nvSpPr>
        <p:spPr>
          <a:xfrm>
            <a:off x="1028700" y="4017000"/>
            <a:ext cx="9738300" cy="28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Probabilistic tree expansion via Monte Carlo rollouts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Selection, Expansion, Simulation, and Backpropagation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phases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Unbiased evaluation for deep game trees without domain heuristics</a:t>
            </a:r>
            <a:endParaRPr b="0" i="0" sz="24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0" name="Google Shape;310;g3f5fa22e98e_0_159"/>
          <p:cNvSpPr txBox="1"/>
          <p:nvPr/>
        </p:nvSpPr>
        <p:spPr>
          <a:xfrm>
            <a:off x="1028700" y="2823184"/>
            <a:ext cx="69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g3f5fa22e98e_0_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32225" y="3131375"/>
            <a:ext cx="8048474" cy="40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"/>
          <p:cNvSpPr txBox="1"/>
          <p:nvPr/>
        </p:nvSpPr>
        <p:spPr>
          <a:xfrm>
            <a:off x="1024384" y="599709"/>
            <a:ext cx="140721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System Architecture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7"/>
          <p:cNvSpPr txBox="1"/>
          <p:nvPr/>
        </p:nvSpPr>
        <p:spPr>
          <a:xfrm>
            <a:off x="1024357" y="2649184"/>
            <a:ext cx="16321500" cy="57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Pipeline (Input → AI Processing → Output):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1. Input Layer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Pygame captures the human move (mouse click on an 8×8 board)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Rule validator converts the click into a legal move on the NumPy board state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2. AI Processing Layer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</a:t>
            </a: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Selected engine (Greedy / Minimax / Alpha-Beta / MCTS) receives the board matrix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Engine returns the chosen move along with a search-stat payload (nodes visited, time, score)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3. Output &amp; Feedback Layer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7350" lvl="0" marL="9144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500"/>
              <a:buFont typeface="Quicksand"/>
              <a:buChar char="-"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Pygame renders the AI move, updated board, and a live sidebar showing search stats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7350" lvl="0" marL="9144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500"/>
              <a:buFont typeface="Quicksand"/>
              <a:buChar char="-"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Pytest suite validates rules and engine behaviour on every commit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7350" lvl="0" marL="9144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500"/>
              <a:buFont typeface="Quicksand"/>
              <a:buChar char="-"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Stack: Python 3.11+, Pygame, NumPy, Pytest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15579303" y="714009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7"/>
          <p:cNvSpPr/>
          <p:nvPr/>
        </p:nvSpPr>
        <p:spPr>
          <a:xfrm>
            <a:off x="1024384" y="9529723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 txBox="1"/>
          <p:nvPr/>
        </p:nvSpPr>
        <p:spPr>
          <a:xfrm>
            <a:off x="1028700" y="599709"/>
            <a:ext cx="11534700" cy="23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TARGET TIMELINE</a:t>
            </a:r>
            <a:endParaRPr b="1" i="1" sz="6399" u="none" cap="none" strike="noStrike">
              <a:solidFill>
                <a:srgbClr val="0F4662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t/>
            </a:r>
            <a:endParaRPr b="1" i="1" sz="6399" u="none" cap="none" strike="noStrike">
              <a:solidFill>
                <a:srgbClr val="0F4662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8304001" y="9215702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descr="image.png" id="326" name="Google Shape;32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075" y="4283424"/>
            <a:ext cx="4388497" cy="40297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231" y="4702858"/>
            <a:ext cx="1506847" cy="35729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1"/>
          <p:cNvSpPr txBox="1"/>
          <p:nvPr/>
        </p:nvSpPr>
        <p:spPr>
          <a:xfrm>
            <a:off x="644231" y="5246570"/>
            <a:ext cx="398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9"/>
              <a:buFont typeface="Arial"/>
              <a:buNone/>
            </a:pPr>
            <a:r>
              <a:rPr b="1" i="0" lang="en-US" sz="2079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Core Board &amp; Pygame UI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644231" y="5763095"/>
            <a:ext cx="37983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0"/>
              <a:buFont typeface="Arial"/>
              <a:buNone/>
            </a:pPr>
            <a:r>
              <a:rPr b="0" i="0" lang="en-US" sz="159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NumPy </a:t>
            </a:r>
            <a:r>
              <a:rPr lang="en-US" sz="159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8x8 </a:t>
            </a:r>
            <a:r>
              <a:rPr b="0" i="0" lang="en-US" sz="159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times 8$ board matrix, rule validator, Pygame GUI, and Pytest suite.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861714" y="6597111"/>
            <a:ext cx="3580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8"/>
              <a:buFont typeface="Arial"/>
              <a:buNone/>
            </a:pPr>
            <a:r>
              <a:rPr b="0" i="0" lang="en-US" sz="1528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NumPy state array setup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861714" y="6952465"/>
            <a:ext cx="3580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8"/>
              <a:buFont typeface="Arial"/>
              <a:buNone/>
            </a:pPr>
            <a:r>
              <a:rPr b="0" i="0" lang="en-US" sz="1528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Pygame render loop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861714" y="7307820"/>
            <a:ext cx="3580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8"/>
              <a:buFont typeface="Arial"/>
              <a:buNone/>
            </a:pPr>
            <a:r>
              <a:rPr b="0" i="0" lang="en-US" sz="1528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Pytest rule unit tests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644231" y="6581576"/>
            <a:ext cx="139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</a:pPr>
            <a:r>
              <a:rPr b="1" i="0" lang="en-US" sz="1712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644231" y="6936930"/>
            <a:ext cx="139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</a:pPr>
            <a:r>
              <a:rPr b="1" i="0" lang="en-US" sz="1712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644231" y="7292285"/>
            <a:ext cx="139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</a:pPr>
            <a:r>
              <a:rPr b="1" i="0" lang="en-US" sz="1712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36" name="Google Shape;33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9069" y="4283425"/>
            <a:ext cx="4388498" cy="40297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4226" y="4702857"/>
            <a:ext cx="1537920" cy="35729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1"/>
          <p:cNvSpPr txBox="1"/>
          <p:nvPr/>
        </p:nvSpPr>
        <p:spPr>
          <a:xfrm>
            <a:off x="5224226" y="5246565"/>
            <a:ext cx="398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9"/>
              <a:buFont typeface="Arial"/>
              <a:buNone/>
            </a:pPr>
            <a:r>
              <a:rPr b="1" i="0" lang="en-US" sz="2079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Greedy &amp; Minimax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5224226" y="5763087"/>
            <a:ext cx="3798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0"/>
              <a:buFont typeface="Arial"/>
              <a:buNone/>
            </a:pPr>
            <a:r>
              <a:rPr b="0" i="0" lang="en-US" sz="159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Implementation of 1-step Greedy Agent and full-tree Minimax decision engine.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5441710" y="6889825"/>
            <a:ext cx="35808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8"/>
              <a:buFont typeface="Arial"/>
              <a:buNone/>
            </a:pPr>
            <a:r>
              <a:rPr b="0" i="0" lang="en-US" sz="1528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Material &amp; positional matrix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5441710" y="7245177"/>
            <a:ext cx="35808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8"/>
              <a:buFont typeface="Arial"/>
              <a:buNone/>
            </a:pPr>
            <a:r>
              <a:rPr b="0" i="0" lang="en-US" sz="1528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Greedy reactive agent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5441710" y="7600528"/>
            <a:ext cx="35808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8"/>
              <a:buFont typeface="Arial"/>
              <a:buNone/>
            </a:pPr>
            <a:r>
              <a:rPr b="0" i="0" lang="en-US" sz="1528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Recursive Minimax engine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5224226" y="6874291"/>
            <a:ext cx="1401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</a:pPr>
            <a:r>
              <a:rPr b="1" i="0" lang="en-US" sz="1712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5224226" y="7229642"/>
            <a:ext cx="1401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</a:pPr>
            <a:r>
              <a:rPr b="1" i="0" lang="en-US" sz="1712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5224226" y="7584993"/>
            <a:ext cx="1401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</a:pPr>
            <a:r>
              <a:rPr b="1" i="0" lang="en-US" sz="1712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6" name="Google Shape;34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9062" y="4283424"/>
            <a:ext cx="4388500" cy="4029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04218" y="4702859"/>
            <a:ext cx="1537917" cy="35729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1"/>
          <p:cNvSpPr txBox="1"/>
          <p:nvPr/>
        </p:nvSpPr>
        <p:spPr>
          <a:xfrm>
            <a:off x="9804218" y="5246571"/>
            <a:ext cx="398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9"/>
              <a:buFont typeface="Arial"/>
              <a:buNone/>
            </a:pPr>
            <a:r>
              <a:rPr b="1" i="0" lang="en-US" sz="2079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Alpha-Beta Engine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"/>
          <p:cNvSpPr txBox="1"/>
          <p:nvPr/>
        </p:nvSpPr>
        <p:spPr>
          <a:xfrm>
            <a:off x="9804218" y="5763096"/>
            <a:ext cx="37983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0"/>
              <a:buFont typeface="Arial"/>
              <a:buNone/>
            </a:pPr>
            <a:r>
              <a:rPr b="0" i="0" lang="en-US" sz="159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Optimization of Minimax tree traversal using Alpha-Beta cutoffs &amp; caching.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10021701" y="6597113"/>
            <a:ext cx="3580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8"/>
              <a:buFont typeface="Arial"/>
              <a:buNone/>
            </a:pPr>
            <a:r>
              <a:rPr b="0" i="0" lang="en-US" sz="1528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Alpha-Beta pruning limits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 txBox="1"/>
          <p:nvPr/>
        </p:nvSpPr>
        <p:spPr>
          <a:xfrm>
            <a:off x="10021701" y="6952466"/>
            <a:ext cx="3580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8"/>
              <a:buFont typeface="Arial"/>
              <a:buNone/>
            </a:pPr>
            <a:r>
              <a:rPr b="0" i="0" lang="en-US" sz="1528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Move ordering heuristics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10021701" y="7307822"/>
            <a:ext cx="3580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8"/>
              <a:buFont typeface="Arial"/>
              <a:buNone/>
            </a:pPr>
            <a:r>
              <a:rPr b="0" i="0" lang="en-US" sz="1528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Transposition dictionary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9804218" y="6581578"/>
            <a:ext cx="139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</a:pPr>
            <a:r>
              <a:rPr b="1" i="0" lang="en-US" sz="1712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 txBox="1"/>
          <p:nvPr/>
        </p:nvSpPr>
        <p:spPr>
          <a:xfrm>
            <a:off x="9804218" y="6936932"/>
            <a:ext cx="139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</a:pPr>
            <a:r>
              <a:rPr b="1" i="0" lang="en-US" sz="1712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9804218" y="7292287"/>
            <a:ext cx="139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</a:pPr>
            <a:r>
              <a:rPr b="1" i="0" lang="en-US" sz="1712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b="0" i="0" sz="2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6" name="Google Shape;35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39288" y="4283424"/>
            <a:ext cx="4290189" cy="393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327832" y="4693460"/>
            <a:ext cx="1518655" cy="34929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1"/>
          <p:cNvSpPr txBox="1"/>
          <p:nvPr/>
        </p:nvSpPr>
        <p:spPr>
          <a:xfrm>
            <a:off x="14327832" y="5224988"/>
            <a:ext cx="3898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33"/>
              <a:buFont typeface="Arial"/>
              <a:buNone/>
            </a:pPr>
            <a:r>
              <a:rPr b="1" i="0" lang="en-US" sz="2033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MCTS &amp; Tournament UI</a:t>
            </a:r>
            <a:endParaRPr b="0" i="0" sz="22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14327832" y="5729939"/>
            <a:ext cx="37131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5"/>
              <a:buFont typeface="Arial"/>
              <a:buNone/>
            </a:pPr>
            <a:r>
              <a:rPr b="0" i="0" lang="en-US" sz="155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MCTS engine integration, Pygame AI vs AI mode, and performance benchmarking.</a:t>
            </a:r>
            <a:endParaRPr b="0" i="0" sz="22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 txBox="1"/>
          <p:nvPr/>
        </p:nvSpPr>
        <p:spPr>
          <a:xfrm>
            <a:off x="14540444" y="6831437"/>
            <a:ext cx="35004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4"/>
              <a:buFont typeface="Arial"/>
              <a:buNone/>
            </a:pPr>
            <a:r>
              <a:rPr b="0" i="0" lang="en-US" sz="1494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UCB1 MCTS playouts</a:t>
            </a:r>
            <a:endParaRPr b="0" i="0" sz="22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14540444" y="7178828"/>
            <a:ext cx="35004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4"/>
              <a:buFont typeface="Arial"/>
              <a:buNone/>
            </a:pPr>
            <a:r>
              <a:rPr b="0" i="0" lang="en-US" sz="1494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Pygame match controller</a:t>
            </a:r>
            <a:endParaRPr b="0" i="0" sz="22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14540444" y="7526219"/>
            <a:ext cx="35004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4"/>
              <a:buFont typeface="Arial"/>
              <a:buNone/>
            </a:pPr>
            <a:r>
              <a:rPr b="0" i="0" lang="en-US" sz="1494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Algorithm comparison report</a:t>
            </a:r>
            <a:endParaRPr b="0" i="0" sz="22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1"/>
          <p:cNvSpPr txBox="1"/>
          <p:nvPr/>
        </p:nvSpPr>
        <p:spPr>
          <a:xfrm>
            <a:off x="14327832" y="6816250"/>
            <a:ext cx="1368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4"/>
              <a:buFont typeface="Arial"/>
              <a:buNone/>
            </a:pPr>
            <a:r>
              <a:rPr b="1" i="0" lang="en-US" sz="1674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b="0" i="0" sz="22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1"/>
          <p:cNvSpPr txBox="1"/>
          <p:nvPr/>
        </p:nvSpPr>
        <p:spPr>
          <a:xfrm>
            <a:off x="14327832" y="7163641"/>
            <a:ext cx="1368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4"/>
              <a:buFont typeface="Arial"/>
              <a:buNone/>
            </a:pPr>
            <a:r>
              <a:rPr b="1" i="0" lang="en-US" sz="1674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b="0" i="0" sz="22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14327832" y="7511032"/>
            <a:ext cx="1368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4"/>
              <a:buFont typeface="Arial"/>
              <a:buNone/>
            </a:pPr>
            <a:r>
              <a:rPr b="1" i="0" lang="en-US" sz="1674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b="0" i="0" sz="22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0" name="Google Shape;370;g3f5fa22e98e_0_4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g3f5fa22e98e_0_4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892" y="3729050"/>
            <a:ext cx="17298924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g3f5fa22e98e_0_4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8663" y="4700588"/>
            <a:ext cx="16830673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g3f5fa22e98e_0_4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25264" y="742950"/>
            <a:ext cx="2934071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f5fa22e98e_0_455"/>
          <p:cNvSpPr txBox="1"/>
          <p:nvPr/>
        </p:nvSpPr>
        <p:spPr>
          <a:xfrm>
            <a:off x="1485900" y="3929075"/>
            <a:ext cx="271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Pygame / NumPy Board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f5fa22e98e_0_455"/>
          <p:cNvSpPr txBox="1"/>
          <p:nvPr/>
        </p:nvSpPr>
        <p:spPr>
          <a:xfrm>
            <a:off x="5918601" y="3929075"/>
            <a:ext cx="1611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Greedy Agent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f5fa22e98e_0_455"/>
          <p:cNvSpPr txBox="1"/>
          <p:nvPr/>
        </p:nvSpPr>
        <p:spPr>
          <a:xfrm>
            <a:off x="9536898" y="3929075"/>
            <a:ext cx="116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Minimax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f5fa22e98e_0_455"/>
          <p:cNvSpPr txBox="1"/>
          <p:nvPr/>
        </p:nvSpPr>
        <p:spPr>
          <a:xfrm>
            <a:off x="12612304" y="3929075"/>
            <a:ext cx="1528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Alpha-Beta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f5fa22e98e_0_455"/>
          <p:cNvSpPr txBox="1"/>
          <p:nvPr/>
        </p:nvSpPr>
        <p:spPr>
          <a:xfrm>
            <a:off x="16030575" y="3929075"/>
            <a:ext cx="1528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MCTS Engine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9" name="Google Shape;379;g3f5fa22e98e_0_455"/>
          <p:cNvGraphicFramePr/>
          <p:nvPr/>
        </p:nvGraphicFramePr>
        <p:xfrm>
          <a:off x="742950" y="4714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{38863510-954A-4393-A507-0B24E4DAE526}</a:tableStyleId>
              </a:tblPr>
              <a:tblGrid>
                <a:gridCol w="2934750"/>
                <a:gridCol w="3851825"/>
                <a:gridCol w="4842350"/>
                <a:gridCol w="5173200"/>
              </a:tblGrid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Algorithm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Time Complexity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Primary Focus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Key Metric / Benchmark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Greedy Search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$O(b)$ per move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Immediate score gain without depth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Baseline speed ($&lt;1\text{ ms}$)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Minimax Engine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$O(b^d)$ full tree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Exact adversarial score minimization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Optimal path at shallow depth ($d \le 4$)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Alpha-Beta Pruning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$O(b^{d/2})$ optimal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Branch elimination for deeper search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$&gt;60\%$ node reduction ($d \ge 7$)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MCTS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$O(N \times m)$ simulations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Statistical sampling without full depth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win-rate in complex mid-game</a:t>
                      </a:r>
                      <a:endParaRPr sz="2100" u="none" cap="none" strike="noStrike"/>
                    </a:p>
                  </a:txBody>
                  <a:tcPr marT="38100" marB="38100" marR="95250" marL="95250" anchor="ctr">
                    <a:lnL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380" name="Google Shape;380;g3f5fa22e98e_0_4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5850" y="3929063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g3f5fa22e98e_0_4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38067" y="3957638"/>
            <a:ext cx="12858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g3f5fa22e98e_0_45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75697" y="392906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g3f5fa22e98e_0_4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9226" y="3957638"/>
            <a:ext cx="12858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g3f5fa22e98e_0_45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36856" y="3929063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g3f5fa22e98e_0_45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203185" y="3957638"/>
            <a:ext cx="12858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g3f5fa22e98e_0_45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240815" y="392906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g3f5fa22e98e_0_45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592894" y="3957638"/>
            <a:ext cx="12858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g3f5fa22e98e_0_45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5630525" y="3929063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3f5fa22e98e_0_455"/>
          <p:cNvSpPr/>
          <p:nvPr/>
        </p:nvSpPr>
        <p:spPr>
          <a:xfrm>
            <a:off x="742950" y="5879306"/>
            <a:ext cx="29349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f5fa22e98e_0_455"/>
          <p:cNvSpPr/>
          <p:nvPr/>
        </p:nvSpPr>
        <p:spPr>
          <a:xfrm>
            <a:off x="3677691" y="5879306"/>
            <a:ext cx="38520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f5fa22e98e_0_455"/>
          <p:cNvSpPr/>
          <p:nvPr/>
        </p:nvSpPr>
        <p:spPr>
          <a:xfrm>
            <a:off x="7529513" y="5879306"/>
            <a:ext cx="48426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5fa22e98e_0_455"/>
          <p:cNvSpPr/>
          <p:nvPr/>
        </p:nvSpPr>
        <p:spPr>
          <a:xfrm>
            <a:off x="12371858" y="5879306"/>
            <a:ext cx="51732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5fa22e98e_0_455"/>
          <p:cNvSpPr/>
          <p:nvPr/>
        </p:nvSpPr>
        <p:spPr>
          <a:xfrm>
            <a:off x="742950" y="6465093"/>
            <a:ext cx="29349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5fa22e98e_0_455"/>
          <p:cNvSpPr/>
          <p:nvPr/>
        </p:nvSpPr>
        <p:spPr>
          <a:xfrm>
            <a:off x="3677691" y="6465093"/>
            <a:ext cx="38520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f5fa22e98e_0_455"/>
          <p:cNvSpPr/>
          <p:nvPr/>
        </p:nvSpPr>
        <p:spPr>
          <a:xfrm>
            <a:off x="7529513" y="6465093"/>
            <a:ext cx="48426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f5fa22e98e_0_455"/>
          <p:cNvSpPr/>
          <p:nvPr/>
        </p:nvSpPr>
        <p:spPr>
          <a:xfrm>
            <a:off x="12371858" y="6465093"/>
            <a:ext cx="51732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5fa22e98e_0_455"/>
          <p:cNvSpPr/>
          <p:nvPr/>
        </p:nvSpPr>
        <p:spPr>
          <a:xfrm>
            <a:off x="742950" y="7050880"/>
            <a:ext cx="29349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f5fa22e98e_0_455"/>
          <p:cNvSpPr/>
          <p:nvPr/>
        </p:nvSpPr>
        <p:spPr>
          <a:xfrm>
            <a:off x="3677691" y="7050880"/>
            <a:ext cx="38520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f5fa22e98e_0_455"/>
          <p:cNvSpPr/>
          <p:nvPr/>
        </p:nvSpPr>
        <p:spPr>
          <a:xfrm>
            <a:off x="7529513" y="7050880"/>
            <a:ext cx="48426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f5fa22e98e_0_455"/>
          <p:cNvSpPr/>
          <p:nvPr/>
        </p:nvSpPr>
        <p:spPr>
          <a:xfrm>
            <a:off x="12371858" y="7050880"/>
            <a:ext cx="51732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f5fa22e98e_0_455"/>
          <p:cNvSpPr/>
          <p:nvPr/>
        </p:nvSpPr>
        <p:spPr>
          <a:xfrm>
            <a:off x="742950" y="7636668"/>
            <a:ext cx="29349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f5fa22e98e_0_455"/>
          <p:cNvSpPr/>
          <p:nvPr/>
        </p:nvSpPr>
        <p:spPr>
          <a:xfrm>
            <a:off x="3677691" y="7636668"/>
            <a:ext cx="38520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f5fa22e98e_0_455"/>
          <p:cNvSpPr/>
          <p:nvPr/>
        </p:nvSpPr>
        <p:spPr>
          <a:xfrm>
            <a:off x="7529513" y="7636668"/>
            <a:ext cx="48426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f5fa22e98e_0_455"/>
          <p:cNvSpPr/>
          <p:nvPr/>
        </p:nvSpPr>
        <p:spPr>
          <a:xfrm>
            <a:off x="12371858" y="7636668"/>
            <a:ext cx="51732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5" name="Google Shape;405;g3f5fa22e98e_0_45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0125" y="5472113"/>
            <a:ext cx="1371600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g3f5fa22e98e_0_45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0125" y="6057900"/>
            <a:ext cx="1443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g3f5fa22e98e_0_45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00125" y="6643688"/>
            <a:ext cx="1771650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g3f5fa22e98e_0_45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00125" y="7229475"/>
            <a:ext cx="685800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f5fa22e98e_0_455"/>
          <p:cNvSpPr txBox="1"/>
          <p:nvPr/>
        </p:nvSpPr>
        <p:spPr>
          <a:xfrm>
            <a:off x="728663" y="642938"/>
            <a:ext cx="1755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ALGORITHM BENCHMARKS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f5fa22e98e_0_455"/>
          <p:cNvSpPr/>
          <p:nvPr/>
        </p:nvSpPr>
        <p:spPr>
          <a:xfrm>
            <a:off x="728663" y="1385888"/>
            <a:ext cx="16830900" cy="2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8"/>
          <p:cNvSpPr txBox="1"/>
          <p:nvPr/>
        </p:nvSpPr>
        <p:spPr>
          <a:xfrm>
            <a:off x="1024384" y="599709"/>
            <a:ext cx="140721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1" lang="en-US" sz="6399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Scope &amp; Final Deliverable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8"/>
          <p:cNvSpPr txBox="1"/>
          <p:nvPr/>
        </p:nvSpPr>
        <p:spPr>
          <a:xfrm>
            <a:off x="1024357" y="2649184"/>
            <a:ext cx="16321500" cy="57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End-of-term MVP: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1. Playable desktop app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Full Checkers rules with king promotion and multi-capture chains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Human-vs-AI and AI-vs-AI modes across all four engines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2. Benchmark &amp; comparison suite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Automated matches logging win rate, nodes searched, and move time per engine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 One-page comparison report generated from the Pytest benchmark run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3. Anticipated challenges &amp; mitigation</a:t>
            </a:r>
            <a:endParaRPr b="1"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7350" lvl="0" marL="9144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500"/>
              <a:buFont typeface="Quicksand"/>
              <a:buChar char="-"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Minimax blow-up at deep plies → controlled via Alpha-Beta + transposition caching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7350" lvl="0" marL="9144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500"/>
              <a:buFont typeface="Quicksand"/>
              <a:buChar char="-"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MCTS tuning of exploration constant → tracked through repeatable seeded rollouts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7350" lvl="0" marL="9144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2500"/>
              <a:buFont typeface="Quicksand"/>
              <a:buChar char="-"/>
            </a:pPr>
            <a:r>
              <a:rPr i="0" lang="en-US" sz="2500" u="none" cap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Time management → milestones locked to the Week-by-Week timeline shown earlier</a:t>
            </a:r>
            <a:endParaRPr i="0" sz="2500" u="none" cap="none" strike="noStrike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15579303" y="714009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8" name="Google Shape;418;p8"/>
          <p:cNvSpPr/>
          <p:nvPr/>
        </p:nvSpPr>
        <p:spPr>
          <a:xfrm>
            <a:off x="1024384" y="9529723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2"/>
          <p:cNvSpPr txBox="1"/>
          <p:nvPr/>
        </p:nvSpPr>
        <p:spPr>
          <a:xfrm>
            <a:off x="3442710" y="3369664"/>
            <a:ext cx="11402580" cy="3185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77"/>
              <a:buFont typeface="Arial"/>
              <a:buNone/>
            </a:pPr>
            <a:r>
              <a:rPr b="1" i="1" lang="en-US" sz="18577" u="none" cap="none" strike="noStrik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12"/>
          <p:cNvCxnSpPr/>
          <p:nvPr/>
        </p:nvCxnSpPr>
        <p:spPr>
          <a:xfrm>
            <a:off x="5897880" y="2215083"/>
            <a:ext cx="6492240" cy="0"/>
          </a:xfrm>
          <a:prstGeom prst="straightConnector1">
            <a:avLst/>
          </a:prstGeom>
          <a:noFill/>
          <a:ln cap="flat" cmpd="sng" w="76200">
            <a:solidFill>
              <a:srgbClr val="0F46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12"/>
          <p:cNvSpPr/>
          <p:nvPr/>
        </p:nvSpPr>
        <p:spPr>
          <a:xfrm>
            <a:off x="8304001" y="1116666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26" name="Google Shape;426;p12"/>
          <p:cNvCxnSpPr/>
          <p:nvPr/>
        </p:nvCxnSpPr>
        <p:spPr>
          <a:xfrm>
            <a:off x="5897880" y="8159883"/>
            <a:ext cx="6492240" cy="0"/>
          </a:xfrm>
          <a:prstGeom prst="straightConnector1">
            <a:avLst/>
          </a:prstGeom>
          <a:noFill/>
          <a:ln cap="flat" cmpd="sng" w="76200">
            <a:solidFill>
              <a:srgbClr val="0F46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12"/>
          <p:cNvSpPr/>
          <p:nvPr/>
        </p:nvSpPr>
        <p:spPr>
          <a:xfrm>
            <a:off x="8304001" y="9008400"/>
            <a:ext cx="1679997" cy="249900"/>
          </a:xfrm>
          <a:custGeom>
            <a:rect b="b" l="l" r="r" t="t"/>
            <a:pathLst>
              <a:path extrusionOk="0"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