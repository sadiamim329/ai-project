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Inter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G0Puu5kRid39zMba8b31EvhVx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a0141005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a0141005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ba0141005_2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ba0141005_2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ba0141005_3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fba0141005_3_2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ba0141005_3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fba0141005_3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ba0141005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fba0141005_0_2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ba0141005_3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fba0141005_3_3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ba0141005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fba0141005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ba0141005_3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fba0141005_3_5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ba0141005_3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fba0141005_3_5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"/>
          <p:cNvCxnSpPr/>
          <p:nvPr/>
        </p:nvCxnSpPr>
        <p:spPr>
          <a:xfrm>
            <a:off x="16866825" y="137145"/>
            <a:ext cx="690600" cy="414000"/>
          </a:xfrm>
          <a:prstGeom prst="straightConnector1">
            <a:avLst/>
          </a:prstGeom>
          <a:noFill/>
          <a:ln cap="flat" cmpd="sng" w="1437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1"/>
          <p:cNvCxnSpPr/>
          <p:nvPr/>
        </p:nvCxnSpPr>
        <p:spPr>
          <a:xfrm flipH="1">
            <a:off x="16452685" y="551421"/>
            <a:ext cx="1104600" cy="138300"/>
          </a:xfrm>
          <a:prstGeom prst="straightConnector1">
            <a:avLst/>
          </a:prstGeom>
          <a:noFill/>
          <a:ln cap="flat" cmpd="sng" w="1437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"/>
          <p:cNvCxnSpPr/>
          <p:nvPr/>
        </p:nvCxnSpPr>
        <p:spPr>
          <a:xfrm>
            <a:off x="16452549" y="689513"/>
            <a:ext cx="828600" cy="483300"/>
          </a:xfrm>
          <a:prstGeom prst="straightConnector1">
            <a:avLst/>
          </a:prstGeom>
          <a:noFill/>
          <a:ln cap="flat" cmpd="sng" w="1437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1"/>
          <p:cNvCxnSpPr/>
          <p:nvPr/>
        </p:nvCxnSpPr>
        <p:spPr>
          <a:xfrm rot="10800000">
            <a:off x="16176501" y="1172835"/>
            <a:ext cx="1104600" cy="0"/>
          </a:xfrm>
          <a:prstGeom prst="straightConnector1">
            <a:avLst/>
          </a:prstGeom>
          <a:noFill/>
          <a:ln cap="flat" cmpd="sng" w="1437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1"/>
          <p:cNvCxnSpPr/>
          <p:nvPr/>
        </p:nvCxnSpPr>
        <p:spPr>
          <a:xfrm>
            <a:off x="16176366" y="1172835"/>
            <a:ext cx="690600" cy="483300"/>
          </a:xfrm>
          <a:prstGeom prst="straightConnector1">
            <a:avLst/>
          </a:prstGeom>
          <a:noFill/>
          <a:ln cap="flat" cmpd="sng" w="1437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1"/>
          <p:cNvSpPr/>
          <p:nvPr/>
        </p:nvSpPr>
        <p:spPr>
          <a:xfrm>
            <a:off x="17488239" y="482375"/>
            <a:ext cx="138300" cy="138300"/>
          </a:xfrm>
          <a:prstGeom prst="ellipse">
            <a:avLst/>
          </a:prstGeom>
          <a:solidFill>
            <a:srgbClr val="FFFFFF"/>
          </a:solidFill>
          <a:ln cap="flat" cmpd="sng" w="1437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8075" lIns="138075" spcFirstLastPara="1" rIns="138075" wrap="square" tIns="13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16383503" y="620467"/>
            <a:ext cx="138300" cy="138300"/>
          </a:xfrm>
          <a:prstGeom prst="ellipse">
            <a:avLst/>
          </a:prstGeom>
          <a:solidFill>
            <a:srgbClr val="FFFFFF"/>
          </a:solidFill>
          <a:ln cap="flat" cmpd="sng" w="1437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8075" lIns="138075" spcFirstLastPara="1" rIns="138075" wrap="square" tIns="13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17212055" y="1103789"/>
            <a:ext cx="138300" cy="138300"/>
          </a:xfrm>
          <a:prstGeom prst="ellipse">
            <a:avLst/>
          </a:prstGeom>
          <a:solidFill>
            <a:srgbClr val="FFFFFF"/>
          </a:solidFill>
          <a:ln cap="flat" cmpd="sng" w="1437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8075" lIns="138075" spcFirstLastPara="1" rIns="138075" wrap="square" tIns="13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16107320" y="1103789"/>
            <a:ext cx="138300" cy="138300"/>
          </a:xfrm>
          <a:prstGeom prst="ellipse">
            <a:avLst/>
          </a:prstGeom>
          <a:solidFill>
            <a:srgbClr val="FFFFFF"/>
          </a:solidFill>
          <a:ln cap="flat" cmpd="sng" w="1437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8075" lIns="138075" spcFirstLastPara="1" rIns="138075" wrap="square" tIns="13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16797779" y="1587111"/>
            <a:ext cx="138300" cy="138300"/>
          </a:xfrm>
          <a:prstGeom prst="ellipse">
            <a:avLst/>
          </a:prstGeom>
          <a:solidFill>
            <a:srgbClr val="FFFFFF"/>
          </a:solidFill>
          <a:ln cap="flat" cmpd="sng" w="1437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8075" lIns="138075" spcFirstLastPara="1" rIns="138075" wrap="square" tIns="13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17488239" y="8975031"/>
            <a:ext cx="138300" cy="138300"/>
          </a:xfrm>
          <a:prstGeom prst="ellipse">
            <a:avLst/>
          </a:prstGeom>
          <a:solidFill>
            <a:srgbClr val="FFFFFF"/>
          </a:solidFill>
          <a:ln cap="flat" cmpd="sng" w="1437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8075" lIns="138075" spcFirstLastPara="1" rIns="138075" wrap="square" tIns="13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17281101" y="9734536"/>
            <a:ext cx="138300" cy="138300"/>
          </a:xfrm>
          <a:prstGeom prst="ellipse">
            <a:avLst/>
          </a:prstGeom>
          <a:solidFill>
            <a:srgbClr val="FFFFFF"/>
          </a:solidFill>
          <a:ln cap="flat" cmpd="sng" w="1437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8075" lIns="138075" spcFirstLastPara="1" rIns="138075" wrap="square" tIns="138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2298511" y="68087"/>
            <a:ext cx="12842400" cy="22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3894"/>
              <a:buFont typeface="Arial"/>
              <a:buNone/>
            </a:pPr>
            <a:r>
              <a:rPr b="1" i="0" lang="en-US" sz="1389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Krosh</a:t>
            </a:r>
            <a:endParaRPr b="0" i="0" sz="138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722811" y="2047965"/>
            <a:ext cx="12842400" cy="9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4833"/>
              <a:buFont typeface="Arial"/>
              <a:buNone/>
            </a:pPr>
            <a:r>
              <a:rPr b="1" i="0" lang="en-US" sz="4833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Checkers against Classical Search</a:t>
            </a:r>
            <a:endParaRPr b="0" i="0" sz="48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502920" y="3706063"/>
            <a:ext cx="41427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812"/>
              <a:buFont typeface="Arial"/>
              <a:buNone/>
            </a:pPr>
            <a:r>
              <a:rPr b="1" i="0" lang="en-US" sz="3712" u="none" cap="none" strike="noStrike">
                <a:solidFill>
                  <a:srgbClr val="1B2E4A"/>
                </a:solidFill>
                <a:latin typeface="Arial"/>
                <a:ea typeface="Arial"/>
                <a:cs typeface="Arial"/>
                <a:sym typeface="Arial"/>
              </a:rPr>
              <a:t>Group Members</a:t>
            </a:r>
            <a:endParaRPr b="0" i="0" sz="371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502928" y="9803582"/>
            <a:ext cx="162948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661"/>
              <a:buFont typeface="Arial"/>
              <a:buNone/>
            </a:pPr>
            <a:r>
              <a:rPr b="1" i="0" lang="en-US" sz="2461" u="none" cap="none" strike="noStrike">
                <a:solidFill>
                  <a:srgbClr val="1B2E4A"/>
                </a:solidFill>
                <a:latin typeface="Arial"/>
                <a:ea typeface="Arial"/>
                <a:cs typeface="Arial"/>
                <a:sym typeface="Arial"/>
              </a:rPr>
              <a:t>Course: </a:t>
            </a:r>
            <a:r>
              <a:rPr b="0" i="0" lang="en-US" sz="2461" u="none" cap="none" strike="noStrike">
                <a:solidFill>
                  <a:srgbClr val="1B2E4A"/>
                </a:solidFill>
                <a:latin typeface="Arial"/>
                <a:ea typeface="Arial"/>
                <a:cs typeface="Arial"/>
                <a:sym typeface="Arial"/>
              </a:rPr>
              <a:t>CSE 3811 — AI Laboratory   </a:t>
            </a:r>
            <a:r>
              <a:rPr b="1" i="0" lang="en-US" sz="2461" u="none" cap="none" strike="noStrike">
                <a:solidFill>
                  <a:srgbClr val="1B2E4A"/>
                </a:solidFill>
                <a:latin typeface="Arial"/>
                <a:ea typeface="Arial"/>
                <a:cs typeface="Arial"/>
                <a:sym typeface="Arial"/>
              </a:rPr>
              <a:t>Section: </a:t>
            </a:r>
            <a:r>
              <a:rPr b="0" i="0" lang="en-US" sz="2461" u="none" cap="none" strike="noStrike">
                <a:solidFill>
                  <a:srgbClr val="1B2E4A"/>
                </a:solidFill>
                <a:latin typeface="Arial"/>
                <a:ea typeface="Arial"/>
                <a:cs typeface="Arial"/>
                <a:sym typeface="Arial"/>
              </a:rPr>
              <a:t>A   </a:t>
            </a:r>
            <a:r>
              <a:rPr b="1" i="0" lang="en-US" sz="2461" u="none" cap="none" strike="noStrike">
                <a:solidFill>
                  <a:srgbClr val="1B2E4A"/>
                </a:solidFill>
                <a:latin typeface="Arial"/>
                <a:ea typeface="Arial"/>
                <a:cs typeface="Arial"/>
                <a:sym typeface="Arial"/>
              </a:rPr>
              <a:t>Group: </a:t>
            </a:r>
            <a:r>
              <a:rPr lang="en-US" sz="2461">
                <a:solidFill>
                  <a:srgbClr val="1B2E4A"/>
                </a:solidFill>
              </a:rPr>
              <a:t>10</a:t>
            </a:r>
            <a:endParaRPr b="0" i="0" sz="246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6728733" y="9803582"/>
            <a:ext cx="1242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9"/>
              <a:buFont typeface="Arial"/>
              <a:buNone/>
            </a:pPr>
            <a:r>
              <a:rPr b="0" i="0" lang="en-US" sz="2059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 / 11</a:t>
            </a:r>
            <a:endParaRPr b="0" i="0" sz="20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 flipH="1">
            <a:off x="10267507" y="4252825"/>
            <a:ext cx="6344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Kazi Fahim Tahmid</a:t>
            </a:r>
            <a:endParaRPr sz="360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Lecturer, Dept of CSE</a:t>
            </a:r>
            <a:endParaRPr sz="360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United International University</a:t>
            </a:r>
            <a:endParaRPr sz="360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0357348" y="3738642"/>
            <a:ext cx="66753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812"/>
              <a:buFont typeface="Arial"/>
              <a:buNone/>
            </a:pPr>
            <a:r>
              <a:rPr b="1" lang="en-US" sz="3712">
                <a:solidFill>
                  <a:srgbClr val="1B2E4A"/>
                </a:solidFill>
              </a:rPr>
              <a:t>Submitted</a:t>
            </a:r>
            <a:r>
              <a:rPr b="1" lang="en-US" sz="3712">
                <a:solidFill>
                  <a:srgbClr val="1B2E4A"/>
                </a:solidFill>
              </a:rPr>
              <a:t> to</a:t>
            </a:r>
            <a:endParaRPr b="0" i="0" sz="371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 flipH="1">
            <a:off x="478350" y="4252825"/>
            <a:ext cx="63441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: Adham Zarif                          </a:t>
            </a:r>
            <a:endParaRPr sz="360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Id:0112330721                               </a:t>
            </a:r>
            <a:endParaRPr sz="360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Saber Hassan                       </a:t>
            </a:r>
            <a:endParaRPr sz="360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Id:0112330870                              </a:t>
            </a:r>
            <a:endParaRPr sz="360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: Sadia Islam</a:t>
            </a:r>
            <a:endParaRPr sz="360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038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Id:0112330329</a:t>
            </a:r>
            <a:endParaRPr sz="3600">
              <a:solidFill>
                <a:srgbClr val="30387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g3fba0141005_0_106"/>
          <p:cNvCxnSpPr/>
          <p:nvPr/>
        </p:nvCxnSpPr>
        <p:spPr>
          <a:xfrm>
            <a:off x="438681" y="8541487"/>
            <a:ext cx="524100" cy="393000"/>
          </a:xfrm>
          <a:prstGeom prst="straightConnector1">
            <a:avLst/>
          </a:prstGeom>
          <a:noFill/>
          <a:ln cap="flat" cmpd="sng" w="13650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g3fba0141005_0_106"/>
          <p:cNvCxnSpPr/>
          <p:nvPr/>
        </p:nvCxnSpPr>
        <p:spPr>
          <a:xfrm flipH="1" rot="10800000">
            <a:off x="962761" y="8672347"/>
            <a:ext cx="524100" cy="262200"/>
          </a:xfrm>
          <a:prstGeom prst="straightConnector1">
            <a:avLst/>
          </a:prstGeom>
          <a:noFill/>
          <a:ln cap="flat" cmpd="sng" w="13650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g3fba0141005_0_106"/>
          <p:cNvSpPr/>
          <p:nvPr/>
        </p:nvSpPr>
        <p:spPr>
          <a:xfrm>
            <a:off x="373171" y="8475977"/>
            <a:ext cx="131100" cy="131100"/>
          </a:xfrm>
          <a:prstGeom prst="ellipse">
            <a:avLst/>
          </a:prstGeom>
          <a:solidFill>
            <a:srgbClr val="FFFFFF"/>
          </a:solidFill>
          <a:ln cap="flat" cmpd="sng" w="13650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1000" lIns="131000" spcFirstLastPara="1" rIns="131000" wrap="square" tIns="13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ba0141005_0_106"/>
          <p:cNvSpPr/>
          <p:nvPr/>
        </p:nvSpPr>
        <p:spPr>
          <a:xfrm>
            <a:off x="897251" y="8869037"/>
            <a:ext cx="131100" cy="131100"/>
          </a:xfrm>
          <a:prstGeom prst="ellipse">
            <a:avLst/>
          </a:prstGeom>
          <a:solidFill>
            <a:srgbClr val="FFFFFF"/>
          </a:solidFill>
          <a:ln cap="flat" cmpd="sng" w="13650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1000" lIns="131000" spcFirstLastPara="1" rIns="131000" wrap="square" tIns="13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ba0141005_0_106"/>
          <p:cNvSpPr/>
          <p:nvPr/>
        </p:nvSpPr>
        <p:spPr>
          <a:xfrm>
            <a:off x="1421331" y="8606997"/>
            <a:ext cx="131100" cy="131100"/>
          </a:xfrm>
          <a:prstGeom prst="ellipse">
            <a:avLst/>
          </a:prstGeom>
          <a:solidFill>
            <a:srgbClr val="FFFFFF"/>
          </a:solidFill>
          <a:ln cap="flat" cmpd="sng" w="13650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1000" lIns="131000" spcFirstLastPara="1" rIns="131000" wrap="square" tIns="131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ba0141005_0_106"/>
          <p:cNvSpPr txBox="1"/>
          <p:nvPr/>
        </p:nvSpPr>
        <p:spPr>
          <a:xfrm>
            <a:off x="1971615" y="2449066"/>
            <a:ext cx="52407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5932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163"/>
              <a:buFont typeface="Times New Roman"/>
              <a:buChar char="●"/>
            </a:pPr>
            <a:r>
              <a:rPr i="0" lang="en-US" sz="2163" u="none" cap="none" strike="noStrike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Motivation</a:t>
            </a:r>
            <a:endParaRPr i="0" sz="2163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4" name="Google Shape;114;g3fba0141005_0_106"/>
          <p:cNvCxnSpPr/>
          <p:nvPr/>
        </p:nvCxnSpPr>
        <p:spPr>
          <a:xfrm>
            <a:off x="1971615" y="3195879"/>
            <a:ext cx="5280000" cy="0"/>
          </a:xfrm>
          <a:prstGeom prst="straightConnector1">
            <a:avLst/>
          </a:prstGeom>
          <a:noFill/>
          <a:ln cap="flat" cmpd="sng" w="136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g3fba0141005_0_106"/>
          <p:cNvSpPr txBox="1"/>
          <p:nvPr/>
        </p:nvSpPr>
        <p:spPr>
          <a:xfrm>
            <a:off x="7251722" y="2449066"/>
            <a:ext cx="1310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9B2F"/>
              </a:buClr>
              <a:buSzPts val="2006"/>
              <a:buFont typeface="Arial"/>
              <a:buNone/>
            </a:pPr>
            <a:r>
              <a:rPr i="0" lang="en-US" sz="2006" u="none" cap="none" strike="noStrike">
                <a:solidFill>
                  <a:schemeClr val="dk1"/>
                </a:solidFill>
              </a:rPr>
              <a:t>3</a:t>
            </a:r>
            <a:endParaRPr i="0" sz="20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fba0141005_0_106"/>
          <p:cNvSpPr txBox="1"/>
          <p:nvPr/>
        </p:nvSpPr>
        <p:spPr>
          <a:xfrm>
            <a:off x="1971615" y="3562734"/>
            <a:ext cx="52407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5932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163"/>
              <a:buFont typeface="Times New Roman"/>
              <a:buChar char="●"/>
            </a:pPr>
            <a:r>
              <a:rPr i="0" lang="en-US" sz="2163" u="none" cap="none" strike="noStrike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 </a:t>
            </a:r>
            <a:endParaRPr i="0" sz="2163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7" name="Google Shape;117;g3fba0141005_0_106"/>
          <p:cNvCxnSpPr/>
          <p:nvPr/>
        </p:nvCxnSpPr>
        <p:spPr>
          <a:xfrm>
            <a:off x="1971615" y="4309547"/>
            <a:ext cx="5280000" cy="0"/>
          </a:xfrm>
          <a:prstGeom prst="straightConnector1">
            <a:avLst/>
          </a:prstGeom>
          <a:noFill/>
          <a:ln cap="flat" cmpd="sng" w="136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g3fba0141005_0_106"/>
          <p:cNvSpPr txBox="1"/>
          <p:nvPr/>
        </p:nvSpPr>
        <p:spPr>
          <a:xfrm>
            <a:off x="7251722" y="3562734"/>
            <a:ext cx="1310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9B2F"/>
              </a:buClr>
              <a:buSzPts val="2006"/>
              <a:buFont typeface="Arial"/>
              <a:buNone/>
            </a:pPr>
            <a:r>
              <a:rPr i="0" lang="en-US" sz="2006" u="none" cap="none" strike="noStrike">
                <a:solidFill>
                  <a:schemeClr val="dk1"/>
                </a:solidFill>
              </a:rPr>
              <a:t>4</a:t>
            </a:r>
            <a:endParaRPr i="0" sz="20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fba0141005_0_106"/>
          <p:cNvSpPr txBox="1"/>
          <p:nvPr/>
        </p:nvSpPr>
        <p:spPr>
          <a:xfrm>
            <a:off x="1971615" y="4676403"/>
            <a:ext cx="52407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51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150"/>
              <a:buFont typeface="Times New Roman"/>
              <a:buChar char="●"/>
            </a:pPr>
            <a:r>
              <a:rPr i="0" lang="en-US" sz="2150" u="none" cap="none" strike="noStrike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Board Representation</a:t>
            </a:r>
            <a:endParaRPr i="0" sz="21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0" name="Google Shape;120;g3fba0141005_0_106"/>
          <p:cNvCxnSpPr/>
          <p:nvPr/>
        </p:nvCxnSpPr>
        <p:spPr>
          <a:xfrm>
            <a:off x="1971615" y="5423216"/>
            <a:ext cx="5280000" cy="0"/>
          </a:xfrm>
          <a:prstGeom prst="straightConnector1">
            <a:avLst/>
          </a:prstGeom>
          <a:noFill/>
          <a:ln cap="flat" cmpd="sng" w="136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g3fba0141005_0_106"/>
          <p:cNvSpPr txBox="1"/>
          <p:nvPr/>
        </p:nvSpPr>
        <p:spPr>
          <a:xfrm>
            <a:off x="7251722" y="4676403"/>
            <a:ext cx="1310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9B2F"/>
              </a:buClr>
              <a:buSzPts val="2006"/>
              <a:buFont typeface="Arial"/>
              <a:buNone/>
            </a:pPr>
            <a:r>
              <a:rPr i="0" lang="en-US" sz="2006" u="none" cap="none" strike="noStrike">
                <a:solidFill>
                  <a:schemeClr val="dk1"/>
                </a:solidFill>
              </a:rPr>
              <a:t>5</a:t>
            </a:r>
            <a:endParaRPr i="0" sz="20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fba0141005_0_106"/>
          <p:cNvSpPr txBox="1"/>
          <p:nvPr/>
        </p:nvSpPr>
        <p:spPr>
          <a:xfrm>
            <a:off x="1971627" y="5790075"/>
            <a:ext cx="60513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5932" lvl="0" marL="45720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163"/>
              <a:buFont typeface="Times New Roman"/>
              <a:buChar char="●"/>
            </a:pPr>
            <a:r>
              <a:rPr lang="en-US" sz="2163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Baseline</a:t>
            </a:r>
            <a:endParaRPr sz="216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3">
              <a:solidFill>
                <a:srgbClr val="1B2E4A"/>
              </a:solidFill>
            </a:endParaRPr>
          </a:p>
        </p:txBody>
      </p:sp>
      <p:cxnSp>
        <p:nvCxnSpPr>
          <p:cNvPr id="123" name="Google Shape;123;g3fba0141005_0_106"/>
          <p:cNvCxnSpPr/>
          <p:nvPr/>
        </p:nvCxnSpPr>
        <p:spPr>
          <a:xfrm>
            <a:off x="1971615" y="6536884"/>
            <a:ext cx="5280000" cy="0"/>
          </a:xfrm>
          <a:prstGeom prst="straightConnector1">
            <a:avLst/>
          </a:prstGeom>
          <a:noFill/>
          <a:ln cap="flat" cmpd="sng" w="136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g3fba0141005_0_106"/>
          <p:cNvSpPr txBox="1"/>
          <p:nvPr/>
        </p:nvSpPr>
        <p:spPr>
          <a:xfrm>
            <a:off x="7251722" y="5790071"/>
            <a:ext cx="1310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9B2F"/>
              </a:buClr>
              <a:buSzPts val="2006"/>
              <a:buFont typeface="Arial"/>
              <a:buNone/>
            </a:pPr>
            <a:r>
              <a:rPr i="0" lang="en-US" sz="2006" u="none" cap="none" strike="noStrike">
                <a:solidFill>
                  <a:schemeClr val="dk1"/>
                </a:solidFill>
              </a:rPr>
              <a:t>6</a:t>
            </a:r>
            <a:endParaRPr i="0" sz="20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fba0141005_0_106"/>
          <p:cNvSpPr txBox="1"/>
          <p:nvPr/>
        </p:nvSpPr>
        <p:spPr>
          <a:xfrm>
            <a:off x="1971615" y="6903740"/>
            <a:ext cx="52407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51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150"/>
              <a:buFont typeface="Times New Roman"/>
              <a:buChar char="●"/>
            </a:pPr>
            <a:r>
              <a:rPr lang="en-US" sz="2150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Minimax </a:t>
            </a:r>
            <a:r>
              <a:rPr lang="en-US" sz="2163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Baseline</a:t>
            </a:r>
            <a:endParaRPr i="0" sz="21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6" name="Google Shape;126;g3fba0141005_0_106"/>
          <p:cNvCxnSpPr/>
          <p:nvPr/>
        </p:nvCxnSpPr>
        <p:spPr>
          <a:xfrm>
            <a:off x="1971615" y="7650552"/>
            <a:ext cx="5280000" cy="0"/>
          </a:xfrm>
          <a:prstGeom prst="straightConnector1">
            <a:avLst/>
          </a:prstGeom>
          <a:noFill/>
          <a:ln cap="flat" cmpd="sng" w="136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g3fba0141005_0_106"/>
          <p:cNvSpPr txBox="1"/>
          <p:nvPr/>
        </p:nvSpPr>
        <p:spPr>
          <a:xfrm>
            <a:off x="7251722" y="6903740"/>
            <a:ext cx="1310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9B2F"/>
              </a:buClr>
              <a:buSzPts val="2006"/>
              <a:buFont typeface="Arial"/>
              <a:buNone/>
            </a:pPr>
            <a:r>
              <a:rPr i="0" lang="en-US" sz="2006" u="none" cap="none" strike="noStrike">
                <a:solidFill>
                  <a:schemeClr val="dk1"/>
                </a:solidFill>
              </a:rPr>
              <a:t>7</a:t>
            </a:r>
            <a:endParaRPr i="0" sz="20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fba0141005_0_106"/>
          <p:cNvSpPr txBox="1"/>
          <p:nvPr/>
        </p:nvSpPr>
        <p:spPr>
          <a:xfrm>
            <a:off x="10422407" y="2449066"/>
            <a:ext cx="51096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5932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163"/>
              <a:buFont typeface="Times New Roman"/>
              <a:buChar char="●"/>
            </a:pPr>
            <a:r>
              <a:rPr lang="en-US" sz="2163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Alpha-Beta Baseline</a:t>
            </a:r>
            <a:endParaRPr sz="2163">
              <a:solidFill>
                <a:srgbClr val="1B2E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9" name="Google Shape;129;g3fba0141005_0_106"/>
          <p:cNvCxnSpPr/>
          <p:nvPr/>
        </p:nvCxnSpPr>
        <p:spPr>
          <a:xfrm>
            <a:off x="10422407" y="3195879"/>
            <a:ext cx="5149200" cy="0"/>
          </a:xfrm>
          <a:prstGeom prst="straightConnector1">
            <a:avLst/>
          </a:prstGeom>
          <a:noFill/>
          <a:ln cap="flat" cmpd="sng" w="136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g3fba0141005_0_106"/>
          <p:cNvSpPr txBox="1"/>
          <p:nvPr/>
        </p:nvSpPr>
        <p:spPr>
          <a:xfrm>
            <a:off x="15571494" y="2449066"/>
            <a:ext cx="1310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9B2F"/>
              </a:buClr>
              <a:buSzPts val="2006"/>
              <a:buFont typeface="Arial"/>
              <a:buNone/>
            </a:pPr>
            <a:r>
              <a:rPr i="0" lang="en-US" sz="2006" u="none" cap="none" strike="noStrike">
                <a:solidFill>
                  <a:schemeClr val="dk1"/>
                </a:solidFill>
              </a:rPr>
              <a:t>8</a:t>
            </a:r>
            <a:endParaRPr i="0" sz="20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fba0141005_0_106"/>
          <p:cNvSpPr txBox="1"/>
          <p:nvPr/>
        </p:nvSpPr>
        <p:spPr>
          <a:xfrm>
            <a:off x="10422407" y="3562734"/>
            <a:ext cx="51096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5932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163"/>
              <a:buFont typeface="Times New Roman"/>
              <a:buChar char="●"/>
            </a:pPr>
            <a:r>
              <a:rPr i="0" lang="en-US" sz="2163" u="none" cap="none" strike="noStrike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Demonstration</a:t>
            </a:r>
            <a:endParaRPr i="0" sz="2163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2" name="Google Shape;132;g3fba0141005_0_106"/>
          <p:cNvCxnSpPr/>
          <p:nvPr/>
        </p:nvCxnSpPr>
        <p:spPr>
          <a:xfrm>
            <a:off x="10422407" y="4309547"/>
            <a:ext cx="5149200" cy="0"/>
          </a:xfrm>
          <a:prstGeom prst="straightConnector1">
            <a:avLst/>
          </a:prstGeom>
          <a:noFill/>
          <a:ln cap="flat" cmpd="sng" w="136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g3fba0141005_0_106"/>
          <p:cNvSpPr txBox="1"/>
          <p:nvPr/>
        </p:nvSpPr>
        <p:spPr>
          <a:xfrm>
            <a:off x="15571494" y="3562734"/>
            <a:ext cx="1310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9B2F"/>
              </a:buClr>
              <a:buSzPts val="2006"/>
              <a:buFont typeface="Arial"/>
              <a:buNone/>
            </a:pPr>
            <a:r>
              <a:rPr i="0" lang="en-US" sz="2006" u="none" cap="none" strike="noStrike">
                <a:solidFill>
                  <a:schemeClr val="dk1"/>
                </a:solidFill>
              </a:rPr>
              <a:t>9</a:t>
            </a:r>
            <a:endParaRPr i="0" sz="20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ba0141005_0_106"/>
          <p:cNvSpPr txBox="1"/>
          <p:nvPr/>
        </p:nvSpPr>
        <p:spPr>
          <a:xfrm>
            <a:off x="10422407" y="4676403"/>
            <a:ext cx="51096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5932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163"/>
              <a:buFont typeface="Times New Roman"/>
              <a:buChar char="●"/>
            </a:pPr>
            <a:r>
              <a:rPr lang="en-US" sz="2163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Timeline Review</a:t>
            </a:r>
            <a:endParaRPr sz="2163">
              <a:solidFill>
                <a:srgbClr val="1B2E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3">
              <a:solidFill>
                <a:srgbClr val="1B2E4A"/>
              </a:solidFill>
            </a:endParaRPr>
          </a:p>
        </p:txBody>
      </p:sp>
      <p:cxnSp>
        <p:nvCxnSpPr>
          <p:cNvPr id="135" name="Google Shape;135;g3fba0141005_0_106"/>
          <p:cNvCxnSpPr/>
          <p:nvPr/>
        </p:nvCxnSpPr>
        <p:spPr>
          <a:xfrm>
            <a:off x="10422407" y="5423216"/>
            <a:ext cx="5149200" cy="0"/>
          </a:xfrm>
          <a:prstGeom prst="straightConnector1">
            <a:avLst/>
          </a:prstGeom>
          <a:noFill/>
          <a:ln cap="flat" cmpd="sng" w="1365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g3fba0141005_0_106"/>
          <p:cNvSpPr txBox="1"/>
          <p:nvPr/>
        </p:nvSpPr>
        <p:spPr>
          <a:xfrm>
            <a:off x="15571494" y="4676403"/>
            <a:ext cx="1310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9B2F"/>
              </a:buClr>
              <a:buSzPts val="2006"/>
              <a:buFont typeface="Arial"/>
              <a:buNone/>
            </a:pPr>
            <a:r>
              <a:rPr i="0" lang="en-US" sz="2006" u="none" cap="none" strike="noStrike">
                <a:solidFill>
                  <a:schemeClr val="dk1"/>
                </a:solidFill>
              </a:rPr>
              <a:t>10</a:t>
            </a:r>
            <a:endParaRPr i="0" sz="200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fba0141005_0_106"/>
          <p:cNvSpPr txBox="1"/>
          <p:nvPr/>
        </p:nvSpPr>
        <p:spPr>
          <a:xfrm>
            <a:off x="16728733" y="9803582"/>
            <a:ext cx="1242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9"/>
              <a:buFont typeface="Arial"/>
              <a:buNone/>
            </a:pPr>
            <a:r>
              <a:rPr lang="en-US" sz="2059">
                <a:solidFill>
                  <a:srgbClr val="6B7280"/>
                </a:solidFill>
              </a:rPr>
              <a:t>2</a:t>
            </a:r>
            <a:r>
              <a:rPr b="0" i="0" lang="en-US" sz="2059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/ 11</a:t>
            </a:r>
            <a:endParaRPr b="0" i="0" sz="20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fba0141005_0_106"/>
          <p:cNvSpPr txBox="1"/>
          <p:nvPr/>
        </p:nvSpPr>
        <p:spPr>
          <a:xfrm>
            <a:off x="1233450" y="883021"/>
            <a:ext cx="8665800" cy="1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3200"/>
              <a:buFont typeface="Arial"/>
              <a:buNone/>
            </a:pPr>
            <a:r>
              <a:rPr b="1" lang="en-US" sz="3700">
                <a:solidFill>
                  <a:srgbClr val="1B2E4A"/>
                </a:solidFill>
              </a:rPr>
              <a:t>Contents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39" name="Google Shape;139;g3fba0141005_0_106"/>
          <p:cNvCxnSpPr/>
          <p:nvPr/>
        </p:nvCxnSpPr>
        <p:spPr>
          <a:xfrm rot="10800000">
            <a:off x="1047750" y="932355"/>
            <a:ext cx="0" cy="453600"/>
          </a:xfrm>
          <a:prstGeom prst="straightConnector1">
            <a:avLst/>
          </a:prstGeom>
          <a:noFill/>
          <a:ln cap="flat" cmpd="sng" w="666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/>
          <p:nvPr/>
        </p:nvSpPr>
        <p:spPr>
          <a:xfrm>
            <a:off x="-170800" y="2139850"/>
            <a:ext cx="89733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200"/>
              <a:buFont typeface="Arial"/>
              <a:buNone/>
            </a:pPr>
            <a:r>
              <a:rPr lang="en-US" sz="3000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Complexity of Adversarial Play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75">
              <a:solidFill>
                <a:srgbClr val="64748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1233450" y="3080150"/>
            <a:ext cx="122742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1.Branching factor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2.Multi-jump captures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3.King promotion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4.Per-move time budget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5.Zero-sum adversary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7325" y="1385950"/>
            <a:ext cx="6877450" cy="6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"/>
          <p:cNvSpPr txBox="1"/>
          <p:nvPr/>
        </p:nvSpPr>
        <p:spPr>
          <a:xfrm>
            <a:off x="16728733" y="9803582"/>
            <a:ext cx="1242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9"/>
              <a:buFont typeface="Arial"/>
              <a:buNone/>
            </a:pPr>
            <a:r>
              <a:rPr lang="en-US" sz="2059">
                <a:solidFill>
                  <a:srgbClr val="6B7280"/>
                </a:solidFill>
              </a:rPr>
              <a:t>3</a:t>
            </a:r>
            <a:r>
              <a:rPr b="0" i="0" lang="en-US" sz="2059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/ 11</a:t>
            </a:r>
            <a:endParaRPr b="0" i="0" sz="20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1233450" y="883021"/>
            <a:ext cx="86658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700">
                <a:solidFill>
                  <a:srgbClr val="1B2E4A"/>
                </a:solidFill>
              </a:rPr>
              <a:t>Introduction &amp; Motivation</a:t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32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49" name="Google Shape;149;p2"/>
          <p:cNvCxnSpPr/>
          <p:nvPr/>
        </p:nvCxnSpPr>
        <p:spPr>
          <a:xfrm rot="10800000">
            <a:off x="1047750" y="932355"/>
            <a:ext cx="0" cy="453600"/>
          </a:xfrm>
          <a:prstGeom prst="straightConnector1">
            <a:avLst/>
          </a:prstGeom>
          <a:noFill/>
          <a:ln cap="flat" cmpd="sng" w="666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ba0141005_2_198"/>
          <p:cNvSpPr/>
          <p:nvPr/>
        </p:nvSpPr>
        <p:spPr>
          <a:xfrm>
            <a:off x="8485491" y="1369214"/>
            <a:ext cx="1155600" cy="1155600"/>
          </a:xfrm>
          <a:prstGeom prst="ellipse">
            <a:avLst/>
          </a:prstGeom>
          <a:solidFill>
            <a:schemeClr val="lt1"/>
          </a:solidFill>
          <a:ln cap="flat" cmpd="sng" w="20075">
            <a:solidFill>
              <a:srgbClr val="1F35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450" lIns="144450" spcFirstLastPara="1" rIns="144450" wrap="square" tIns="1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fba0141005_2_198"/>
          <p:cNvSpPr txBox="1"/>
          <p:nvPr/>
        </p:nvSpPr>
        <p:spPr>
          <a:xfrm>
            <a:off x="8341028" y="1355064"/>
            <a:ext cx="14445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Arial"/>
              <a:buNone/>
            </a:pPr>
            <a:r>
              <a:rPr b="1" i="0" lang="en-US" sz="158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</a:t>
            </a:r>
            <a:endParaRPr i="0" sz="158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6" name="Google Shape;156;g3fba0141005_2_198"/>
          <p:cNvCxnSpPr/>
          <p:nvPr/>
        </p:nvCxnSpPr>
        <p:spPr>
          <a:xfrm>
            <a:off x="9063342" y="2597148"/>
            <a:ext cx="0" cy="505800"/>
          </a:xfrm>
          <a:prstGeom prst="straightConnector1">
            <a:avLst/>
          </a:prstGeom>
          <a:noFill/>
          <a:ln cap="flat" cmpd="sng" w="25075">
            <a:solidFill>
              <a:srgbClr val="1B2E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" name="Google Shape;157;g3fba0141005_2_198"/>
          <p:cNvSpPr/>
          <p:nvPr/>
        </p:nvSpPr>
        <p:spPr>
          <a:xfrm>
            <a:off x="4007144" y="3102767"/>
            <a:ext cx="10112400" cy="7944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2007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450" lIns="144450" spcFirstLastPara="1" rIns="144450" wrap="square" tIns="1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ba0141005_2_198"/>
          <p:cNvSpPr txBox="1"/>
          <p:nvPr/>
        </p:nvSpPr>
        <p:spPr>
          <a:xfrm>
            <a:off x="4007144" y="3102767"/>
            <a:ext cx="10112400" cy="794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212"/>
              <a:buFont typeface="Arial"/>
              <a:buNone/>
            </a:pPr>
            <a:r>
              <a:rPr i="0" lang="en-US" sz="221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UI  ·  HTML + JS board</a:t>
            </a:r>
            <a:endParaRPr i="0" sz="221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9" name="Google Shape;159;g3fba0141005_2_198"/>
          <p:cNvCxnSpPr/>
          <p:nvPr/>
        </p:nvCxnSpPr>
        <p:spPr>
          <a:xfrm>
            <a:off x="9063342" y="3897312"/>
            <a:ext cx="0" cy="505800"/>
          </a:xfrm>
          <a:prstGeom prst="straightConnector1">
            <a:avLst/>
          </a:prstGeom>
          <a:noFill/>
          <a:ln cap="flat" cmpd="sng" w="25075">
            <a:solidFill>
              <a:srgbClr val="1B2E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g3fba0141005_2_198"/>
          <p:cNvSpPr/>
          <p:nvPr/>
        </p:nvSpPr>
        <p:spPr>
          <a:xfrm>
            <a:off x="4007144" y="4402932"/>
            <a:ext cx="10112400" cy="7944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2007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450" lIns="144450" spcFirstLastPara="1" rIns="144450" wrap="square" tIns="1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ba0141005_2_198"/>
          <p:cNvSpPr txBox="1"/>
          <p:nvPr/>
        </p:nvSpPr>
        <p:spPr>
          <a:xfrm>
            <a:off x="4007144" y="4402932"/>
            <a:ext cx="10112400" cy="794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054"/>
              <a:buFont typeface="Arial"/>
              <a:buNone/>
            </a:pPr>
            <a:r>
              <a:rPr i="0" lang="en-US" sz="205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 HTTP endpoints  ·  /new-game  /move  /undo  /restart</a:t>
            </a:r>
            <a:endParaRPr i="0" sz="205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g3fba0141005_2_198"/>
          <p:cNvSpPr/>
          <p:nvPr/>
        </p:nvSpPr>
        <p:spPr>
          <a:xfrm>
            <a:off x="2697291" y="5775609"/>
            <a:ext cx="13001700" cy="274470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 cap="flat" cmpd="sng" w="50150">
            <a:solidFill>
              <a:srgbClr val="1F35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450" lIns="144450" spcFirstLastPara="1" rIns="144450" wrap="square" tIns="1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ba0141005_2_198"/>
          <p:cNvSpPr txBox="1"/>
          <p:nvPr/>
        </p:nvSpPr>
        <p:spPr>
          <a:xfrm>
            <a:off x="2562516" y="5789775"/>
            <a:ext cx="130017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552"/>
              </a:buClr>
              <a:buSzPts val="2212"/>
              <a:buFont typeface="Arial"/>
              <a:buNone/>
            </a:pPr>
            <a:r>
              <a:rPr b="1" i="0" lang="en-US" sz="221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Search Engines</a:t>
            </a:r>
            <a:endParaRPr i="0" sz="221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g3fba0141005_2_198"/>
          <p:cNvSpPr/>
          <p:nvPr/>
        </p:nvSpPr>
        <p:spPr>
          <a:xfrm>
            <a:off x="3984746" y="6497642"/>
            <a:ext cx="2672700" cy="7944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30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450" lIns="144450" spcFirstLastPara="1" rIns="144450" wrap="square" tIns="1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ba0141005_2_198"/>
          <p:cNvSpPr txBox="1"/>
          <p:nvPr/>
        </p:nvSpPr>
        <p:spPr>
          <a:xfrm>
            <a:off x="3909882" y="6497642"/>
            <a:ext cx="26727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A9A0"/>
              </a:buClr>
              <a:buSzPts val="2054"/>
              <a:buFont typeface="Arial"/>
              <a:buNone/>
            </a:pPr>
            <a:r>
              <a:rPr b="1" i="0" lang="en-US" sz="205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</a:t>
            </a:r>
            <a:endParaRPr i="0" sz="205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6" name="Google Shape;166;g3fba0141005_2_198"/>
          <p:cNvCxnSpPr/>
          <p:nvPr/>
        </p:nvCxnSpPr>
        <p:spPr>
          <a:xfrm>
            <a:off x="5350975" y="7292187"/>
            <a:ext cx="0" cy="505800"/>
          </a:xfrm>
          <a:prstGeom prst="straightConnector1">
            <a:avLst/>
          </a:prstGeom>
          <a:noFill/>
          <a:ln cap="flat" cmpd="sng" w="250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7" name="Google Shape;167;g3fba0141005_2_198"/>
          <p:cNvSpPr/>
          <p:nvPr/>
        </p:nvSpPr>
        <p:spPr>
          <a:xfrm>
            <a:off x="7906769" y="6501496"/>
            <a:ext cx="2672700" cy="7944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30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450" lIns="144450" spcFirstLastPara="1" rIns="144450" wrap="square" tIns="1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fba0141005_2_198"/>
          <p:cNvSpPr txBox="1"/>
          <p:nvPr/>
        </p:nvSpPr>
        <p:spPr>
          <a:xfrm>
            <a:off x="7891802" y="6485309"/>
            <a:ext cx="26727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B2F"/>
              </a:buClr>
              <a:buSzPts val="2054"/>
              <a:buFont typeface="Arial"/>
              <a:buNone/>
            </a:pPr>
            <a:r>
              <a:rPr b="1" i="0" lang="en-US" sz="205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Minimax</a:t>
            </a:r>
            <a:endParaRPr i="0" sz="205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9" name="Google Shape;169;g3fba0141005_2_198"/>
          <p:cNvCxnSpPr/>
          <p:nvPr/>
        </p:nvCxnSpPr>
        <p:spPr>
          <a:xfrm>
            <a:off x="9331736" y="7292187"/>
            <a:ext cx="0" cy="505800"/>
          </a:xfrm>
          <a:prstGeom prst="straightConnector1">
            <a:avLst/>
          </a:prstGeom>
          <a:noFill/>
          <a:ln cap="flat" cmpd="sng" w="250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g3fba0141005_2_198"/>
          <p:cNvSpPr/>
          <p:nvPr/>
        </p:nvSpPr>
        <p:spPr>
          <a:xfrm>
            <a:off x="11841452" y="6497642"/>
            <a:ext cx="2672700" cy="7944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30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4450" lIns="144450" spcFirstLastPara="1" rIns="144450" wrap="square" tIns="1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ba0141005_2_198"/>
          <p:cNvSpPr txBox="1"/>
          <p:nvPr/>
        </p:nvSpPr>
        <p:spPr>
          <a:xfrm>
            <a:off x="11781557" y="6497642"/>
            <a:ext cx="26727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B2F"/>
              </a:buClr>
              <a:buSzPts val="2054"/>
              <a:buFont typeface="Arial"/>
              <a:buNone/>
            </a:pPr>
            <a:r>
              <a:rPr b="1" i="0" lang="en-US" sz="205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Alpha-Beta</a:t>
            </a:r>
            <a:endParaRPr i="0" sz="205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2" name="Google Shape;172;g3fba0141005_2_198"/>
          <p:cNvCxnSpPr/>
          <p:nvPr/>
        </p:nvCxnSpPr>
        <p:spPr>
          <a:xfrm>
            <a:off x="13207680" y="7292187"/>
            <a:ext cx="0" cy="505800"/>
          </a:xfrm>
          <a:prstGeom prst="straightConnector1">
            <a:avLst/>
          </a:prstGeom>
          <a:noFill/>
          <a:ln cap="flat" cmpd="sng" w="250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3" name="Google Shape;173;g3fba0141005_2_198"/>
          <p:cNvSpPr txBox="1"/>
          <p:nvPr/>
        </p:nvSpPr>
        <p:spPr>
          <a:xfrm>
            <a:off x="3328169" y="7755419"/>
            <a:ext cx="11470200" cy="722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9B2F"/>
              </a:buClr>
              <a:buSzPts val="2054"/>
              <a:buFont typeface="Arial"/>
              <a:buNone/>
            </a:pPr>
            <a:r>
              <a:rPr b="1" i="0" lang="en-US" sz="205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Board Evaluator  (material · kings · position · mobility)</a:t>
            </a:r>
            <a:endParaRPr i="0" sz="205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g3fba0141005_2_198"/>
          <p:cNvSpPr txBox="1"/>
          <p:nvPr/>
        </p:nvSpPr>
        <p:spPr>
          <a:xfrm>
            <a:off x="4144495" y="8967282"/>
            <a:ext cx="10112400" cy="794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C6B"/>
              </a:buClr>
              <a:buSzPts val="2212"/>
              <a:buFont typeface="Arial"/>
              <a:buNone/>
            </a:pPr>
            <a:r>
              <a:rPr b="1" i="0" lang="en-US" sz="2212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Chosen Move  +  Search Stats</a:t>
            </a:r>
            <a:endParaRPr i="0" sz="221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5" name="Google Shape;175;g3fba0141005_2_198"/>
          <p:cNvCxnSpPr/>
          <p:nvPr/>
        </p:nvCxnSpPr>
        <p:spPr>
          <a:xfrm>
            <a:off x="9063267" y="5197348"/>
            <a:ext cx="0" cy="505800"/>
          </a:xfrm>
          <a:prstGeom prst="straightConnector1">
            <a:avLst/>
          </a:prstGeom>
          <a:noFill/>
          <a:ln cap="flat" cmpd="sng" w="25075">
            <a:solidFill>
              <a:srgbClr val="1B2E4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" name="Google Shape;176;g3fba0141005_2_198"/>
          <p:cNvCxnSpPr/>
          <p:nvPr/>
        </p:nvCxnSpPr>
        <p:spPr>
          <a:xfrm>
            <a:off x="9215667" y="8479272"/>
            <a:ext cx="0" cy="505800"/>
          </a:xfrm>
          <a:prstGeom prst="straightConnector1">
            <a:avLst/>
          </a:prstGeom>
          <a:noFill/>
          <a:ln cap="flat" cmpd="sng" w="25075">
            <a:solidFill>
              <a:srgbClr val="1B2E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7" name="Google Shape;177;g3fba0141005_2_198"/>
          <p:cNvSpPr txBox="1"/>
          <p:nvPr/>
        </p:nvSpPr>
        <p:spPr>
          <a:xfrm>
            <a:off x="16728733" y="9803582"/>
            <a:ext cx="1242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9"/>
              <a:buFont typeface="Arial"/>
              <a:buNone/>
            </a:pPr>
            <a:r>
              <a:rPr lang="en-US" sz="2059">
                <a:solidFill>
                  <a:srgbClr val="6B7280"/>
                </a:solidFill>
              </a:rPr>
              <a:t>4</a:t>
            </a:r>
            <a:r>
              <a:rPr b="0" i="0" lang="en-US" sz="2059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/ 11</a:t>
            </a:r>
            <a:endParaRPr b="0" i="0" sz="20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ba0141005_2_198"/>
          <p:cNvSpPr txBox="1"/>
          <p:nvPr/>
        </p:nvSpPr>
        <p:spPr>
          <a:xfrm>
            <a:off x="4159475" y="9803278"/>
            <a:ext cx="10112400" cy="453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C6B"/>
              </a:buClr>
              <a:buSzPts val="2212"/>
              <a:buFont typeface="Arial"/>
              <a:buNone/>
            </a:pPr>
            <a:r>
              <a:rPr lang="en-US" sz="161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 01: KROSH Architecture Diagram</a:t>
            </a:r>
            <a:endParaRPr i="0" sz="1612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g3fba0141005_2_198"/>
          <p:cNvSpPr txBox="1"/>
          <p:nvPr/>
        </p:nvSpPr>
        <p:spPr>
          <a:xfrm>
            <a:off x="1233450" y="883021"/>
            <a:ext cx="8665800" cy="30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700">
                <a:solidFill>
                  <a:srgbClr val="1B2E4A"/>
                </a:solidFill>
              </a:rPr>
              <a:t>System Architecture</a:t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32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0" name="Google Shape;180;g3fba0141005_2_198"/>
          <p:cNvCxnSpPr/>
          <p:nvPr/>
        </p:nvCxnSpPr>
        <p:spPr>
          <a:xfrm rot="10800000">
            <a:off x="1047750" y="932355"/>
            <a:ext cx="0" cy="453600"/>
          </a:xfrm>
          <a:prstGeom prst="straightConnector1">
            <a:avLst/>
          </a:prstGeom>
          <a:noFill/>
          <a:ln cap="flat" cmpd="sng" w="666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ba0141005_3_290"/>
          <p:cNvSpPr txBox="1"/>
          <p:nvPr/>
        </p:nvSpPr>
        <p:spPr>
          <a:xfrm>
            <a:off x="16728733" y="9803582"/>
            <a:ext cx="1242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9"/>
              <a:buFont typeface="Arial"/>
              <a:buNone/>
            </a:pPr>
            <a:r>
              <a:rPr lang="en-US" sz="2059">
                <a:solidFill>
                  <a:srgbClr val="6B7280"/>
                </a:solidFill>
              </a:rPr>
              <a:t>5</a:t>
            </a:r>
            <a:r>
              <a:rPr b="0" i="0" lang="en-US" sz="2059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/ 11</a:t>
            </a:r>
            <a:endParaRPr b="0" i="0" sz="20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ba0141005_3_290"/>
          <p:cNvSpPr txBox="1"/>
          <p:nvPr/>
        </p:nvSpPr>
        <p:spPr>
          <a:xfrm>
            <a:off x="2605025" y="2028675"/>
            <a:ext cx="113205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75"/>
              </a:buClr>
              <a:buSzPts val="3893"/>
              <a:buFont typeface="Arial"/>
              <a:buNone/>
            </a:pPr>
            <a:r>
              <a:rPr lang="en-US" sz="319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Game State</a:t>
            </a:r>
            <a:endParaRPr sz="319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75"/>
              </a:buClr>
              <a:buSzPts val="3893"/>
              <a:buFont typeface="Arial"/>
              <a:buNone/>
            </a:pPr>
            <a:r>
              <a:t/>
            </a:r>
            <a:endParaRPr b="1" sz="3193">
              <a:solidFill>
                <a:schemeClr val="dk1"/>
              </a:solidFill>
            </a:endParaRPr>
          </a:p>
        </p:txBody>
      </p:sp>
      <p:sp>
        <p:nvSpPr>
          <p:cNvPr id="187" name="Google Shape;187;g3fba0141005_3_290"/>
          <p:cNvSpPr txBox="1"/>
          <p:nvPr/>
        </p:nvSpPr>
        <p:spPr>
          <a:xfrm>
            <a:off x="1218476" y="912969"/>
            <a:ext cx="8665800" cy="2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B2E4A"/>
                </a:solidFill>
              </a:rPr>
              <a:t>Board Representation</a:t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88" name="Google Shape;188;g3fba0141005_3_290"/>
          <p:cNvCxnSpPr/>
          <p:nvPr/>
        </p:nvCxnSpPr>
        <p:spPr>
          <a:xfrm rot="10800000">
            <a:off x="1047750" y="932355"/>
            <a:ext cx="0" cy="453600"/>
          </a:xfrm>
          <a:prstGeom prst="straightConnector1">
            <a:avLst/>
          </a:prstGeom>
          <a:noFill/>
          <a:ln cap="flat" cmpd="sng" w="666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g3fba0141005_3_290"/>
          <p:cNvSpPr/>
          <p:nvPr/>
        </p:nvSpPr>
        <p:spPr>
          <a:xfrm>
            <a:off x="2094749" y="3306375"/>
            <a:ext cx="12041700" cy="234510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9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925" lIns="137925" spcFirstLastPara="1" rIns="137925" wrap="square" tIns="13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ba0141005_3_290"/>
          <p:cNvSpPr/>
          <p:nvPr/>
        </p:nvSpPr>
        <p:spPr>
          <a:xfrm>
            <a:off x="2094749" y="3306375"/>
            <a:ext cx="12041700" cy="551700"/>
          </a:xfrm>
          <a:prstGeom prst="rect">
            <a:avLst/>
          </a:prstGeom>
          <a:solidFill>
            <a:schemeClr val="lt1"/>
          </a:solidFill>
          <a:ln cap="flat" cmpd="sng" w="19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925" lIns="137925" spcFirstLastPara="1" rIns="137925" wrap="square" tIns="13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ba0141005_3_290"/>
          <p:cNvSpPr txBox="1"/>
          <p:nvPr/>
        </p:nvSpPr>
        <p:spPr>
          <a:xfrm>
            <a:off x="2517255" y="3306375"/>
            <a:ext cx="116187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961"/>
              <a:buFont typeface="Arial"/>
              <a:buNone/>
            </a:pPr>
            <a:r>
              <a:rPr b="1" lang="en-US" sz="1961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Board</a:t>
            </a:r>
            <a:endParaRPr i="0" sz="1961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2" name="Google Shape;192;g3fba0141005_3_290"/>
          <p:cNvCxnSpPr/>
          <p:nvPr/>
        </p:nvCxnSpPr>
        <p:spPr>
          <a:xfrm>
            <a:off x="2094749" y="3858117"/>
            <a:ext cx="12041700" cy="0"/>
          </a:xfrm>
          <a:prstGeom prst="straightConnector1">
            <a:avLst/>
          </a:prstGeom>
          <a:noFill/>
          <a:ln cap="flat" cmpd="sng" w="1437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g3fba0141005_3_290"/>
          <p:cNvSpPr txBox="1"/>
          <p:nvPr/>
        </p:nvSpPr>
        <p:spPr>
          <a:xfrm>
            <a:off x="2517255" y="3858117"/>
            <a:ext cx="29574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659"/>
              <a:buFont typeface="Arial"/>
              <a:buNone/>
            </a:pPr>
            <a:r>
              <a:rPr b="1" i="0" lang="en-US" sz="1659" u="none" cap="none" strike="noStrike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Board</a:t>
            </a:r>
            <a:endParaRPr i="0" sz="1659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g3fba0141005_3_290"/>
          <p:cNvSpPr txBox="1"/>
          <p:nvPr/>
        </p:nvSpPr>
        <p:spPr>
          <a:xfrm>
            <a:off x="5580430" y="3858117"/>
            <a:ext cx="84498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659"/>
              <a:buFont typeface="Arial"/>
              <a:buNone/>
            </a:pPr>
            <a:r>
              <a:rPr i="0" lang="en-US" sz="165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8×8 grid, 12 light + 12 dark pieces</a:t>
            </a:r>
            <a:endParaRPr i="0" sz="165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5" name="Google Shape;195;g3fba0141005_3_290"/>
          <p:cNvCxnSpPr/>
          <p:nvPr/>
        </p:nvCxnSpPr>
        <p:spPr>
          <a:xfrm>
            <a:off x="2094749" y="4437445"/>
            <a:ext cx="12041700" cy="0"/>
          </a:xfrm>
          <a:prstGeom prst="straightConnector1">
            <a:avLst/>
          </a:prstGeom>
          <a:noFill/>
          <a:ln cap="flat" cmpd="sng" w="1437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g3fba0141005_3_290"/>
          <p:cNvSpPr txBox="1"/>
          <p:nvPr/>
        </p:nvSpPr>
        <p:spPr>
          <a:xfrm>
            <a:off x="2517255" y="4437445"/>
            <a:ext cx="29574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659"/>
              <a:buFont typeface="Arial"/>
              <a:buNone/>
            </a:pPr>
            <a:r>
              <a:rPr b="1" i="0" lang="en-US" sz="1659" u="none" cap="none" strike="noStrike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Encoding</a:t>
            </a:r>
            <a:endParaRPr i="0" sz="1659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g3fba0141005_3_290"/>
          <p:cNvSpPr txBox="1"/>
          <p:nvPr/>
        </p:nvSpPr>
        <p:spPr>
          <a:xfrm>
            <a:off x="5580430" y="4437445"/>
            <a:ext cx="84498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659"/>
              <a:buFont typeface="Arial"/>
              <a:buNone/>
            </a:pPr>
            <a:r>
              <a:rPr i="0" lang="en-US" sz="165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empty / light-man / dark-man / king</a:t>
            </a:r>
            <a:endParaRPr i="0" sz="165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8" name="Google Shape;198;g3fba0141005_3_290"/>
          <p:cNvCxnSpPr/>
          <p:nvPr/>
        </p:nvCxnSpPr>
        <p:spPr>
          <a:xfrm>
            <a:off x="2094749" y="5016774"/>
            <a:ext cx="12041700" cy="0"/>
          </a:xfrm>
          <a:prstGeom prst="straightConnector1">
            <a:avLst/>
          </a:prstGeom>
          <a:noFill/>
          <a:ln cap="flat" cmpd="sng" w="1437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g3fba0141005_3_290"/>
          <p:cNvSpPr txBox="1"/>
          <p:nvPr/>
        </p:nvSpPr>
        <p:spPr>
          <a:xfrm>
            <a:off x="2517255" y="5016774"/>
            <a:ext cx="29574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659"/>
              <a:buFont typeface="Arial"/>
              <a:buNone/>
            </a:pPr>
            <a:r>
              <a:rPr b="1" i="0" lang="en-US" sz="1659" u="none" cap="none" strike="noStrike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</a:t>
            </a:r>
            <a:endParaRPr i="0" sz="1659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g3fba0141005_3_290"/>
          <p:cNvSpPr txBox="1"/>
          <p:nvPr/>
        </p:nvSpPr>
        <p:spPr>
          <a:xfrm>
            <a:off x="5580430" y="5016774"/>
            <a:ext cx="84498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659"/>
              <a:buFont typeface="Arial"/>
              <a:buNone/>
            </a:pPr>
            <a:r>
              <a:rPr i="0" lang="en-US" sz="165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side-to-move · king mask · move number</a:t>
            </a:r>
            <a:endParaRPr i="0" sz="165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g3fba0141005_3_290"/>
          <p:cNvSpPr/>
          <p:nvPr/>
        </p:nvSpPr>
        <p:spPr>
          <a:xfrm>
            <a:off x="2094749" y="6631372"/>
            <a:ext cx="12041700" cy="31722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19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925" lIns="137925" spcFirstLastPara="1" rIns="137925" wrap="square" tIns="13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ba0141005_3_290"/>
          <p:cNvSpPr/>
          <p:nvPr/>
        </p:nvSpPr>
        <p:spPr>
          <a:xfrm>
            <a:off x="2094749" y="6631372"/>
            <a:ext cx="12041700" cy="551700"/>
          </a:xfrm>
          <a:prstGeom prst="rect">
            <a:avLst/>
          </a:prstGeom>
          <a:solidFill>
            <a:schemeClr val="lt1"/>
          </a:solidFill>
          <a:ln cap="flat" cmpd="sng" w="19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7925" lIns="137925" spcFirstLastPara="1" rIns="137925" wrap="square" tIns="13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fba0141005_3_290"/>
          <p:cNvSpPr txBox="1"/>
          <p:nvPr/>
        </p:nvSpPr>
        <p:spPr>
          <a:xfrm>
            <a:off x="2517255" y="6631372"/>
            <a:ext cx="11618700" cy="5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961"/>
              <a:buFont typeface="Arial"/>
              <a:buNone/>
            </a:pPr>
            <a:r>
              <a:rPr b="1" lang="en-US" sz="1961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Rules</a:t>
            </a:r>
            <a:endParaRPr i="0" sz="1961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4" name="Google Shape;204;g3fba0141005_3_290"/>
          <p:cNvCxnSpPr/>
          <p:nvPr/>
        </p:nvCxnSpPr>
        <p:spPr>
          <a:xfrm>
            <a:off x="2094749" y="7183114"/>
            <a:ext cx="12041700" cy="0"/>
          </a:xfrm>
          <a:prstGeom prst="straightConnector1">
            <a:avLst/>
          </a:prstGeom>
          <a:noFill/>
          <a:ln cap="flat" cmpd="sng" w="1437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g3fba0141005_3_290"/>
          <p:cNvSpPr txBox="1"/>
          <p:nvPr/>
        </p:nvSpPr>
        <p:spPr>
          <a:xfrm>
            <a:off x="2517255" y="7183114"/>
            <a:ext cx="29574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659"/>
              <a:buFont typeface="Arial"/>
              <a:buNone/>
            </a:pPr>
            <a:r>
              <a:rPr b="1" i="0" lang="en-US" sz="165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Movement</a:t>
            </a:r>
            <a:endParaRPr i="0" sz="165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g3fba0141005_3_290"/>
          <p:cNvSpPr txBox="1"/>
          <p:nvPr/>
        </p:nvSpPr>
        <p:spPr>
          <a:xfrm>
            <a:off x="5580430" y="7183114"/>
            <a:ext cx="84498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659"/>
              <a:buFont typeface="Arial"/>
              <a:buNone/>
            </a:pPr>
            <a:r>
              <a:rPr i="0" lang="en-US" sz="165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diagonal one-step on dark squares</a:t>
            </a:r>
            <a:endParaRPr i="0" sz="165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7" name="Google Shape;207;g3fba0141005_3_290"/>
          <p:cNvCxnSpPr/>
          <p:nvPr/>
        </p:nvCxnSpPr>
        <p:spPr>
          <a:xfrm>
            <a:off x="2094749" y="7762442"/>
            <a:ext cx="12041700" cy="0"/>
          </a:xfrm>
          <a:prstGeom prst="straightConnector1">
            <a:avLst/>
          </a:prstGeom>
          <a:noFill/>
          <a:ln cap="flat" cmpd="sng" w="1437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g3fba0141005_3_290"/>
          <p:cNvSpPr txBox="1"/>
          <p:nvPr/>
        </p:nvSpPr>
        <p:spPr>
          <a:xfrm>
            <a:off x="2517255" y="7762442"/>
            <a:ext cx="29574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659"/>
              <a:buFont typeface="Arial"/>
              <a:buNone/>
            </a:pPr>
            <a:r>
              <a:rPr b="1" i="0" lang="en-US" sz="165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</a:t>
            </a:r>
            <a:endParaRPr i="0" sz="165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g3fba0141005_3_290"/>
          <p:cNvSpPr txBox="1"/>
          <p:nvPr/>
        </p:nvSpPr>
        <p:spPr>
          <a:xfrm>
            <a:off x="5580430" y="7762442"/>
            <a:ext cx="84498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659"/>
              <a:buFont typeface="Arial"/>
              <a:buNone/>
            </a:pPr>
            <a:r>
              <a:rPr i="0" lang="en-US" sz="165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leap over opponent, land on empty</a:t>
            </a:r>
            <a:endParaRPr i="0" sz="165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0" name="Google Shape;210;g3fba0141005_3_290"/>
          <p:cNvCxnSpPr/>
          <p:nvPr/>
        </p:nvCxnSpPr>
        <p:spPr>
          <a:xfrm>
            <a:off x="2094749" y="8341771"/>
            <a:ext cx="12041700" cy="0"/>
          </a:xfrm>
          <a:prstGeom prst="straightConnector1">
            <a:avLst/>
          </a:prstGeom>
          <a:noFill/>
          <a:ln cap="flat" cmpd="sng" w="1437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g3fba0141005_3_290"/>
          <p:cNvSpPr txBox="1"/>
          <p:nvPr/>
        </p:nvSpPr>
        <p:spPr>
          <a:xfrm>
            <a:off x="2517255" y="8341771"/>
            <a:ext cx="29574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659"/>
              <a:buFont typeface="Arial"/>
              <a:buNone/>
            </a:pPr>
            <a:r>
              <a:rPr b="1" i="0" lang="en-US" sz="1659" u="none" cap="none" strike="noStrike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Chains</a:t>
            </a:r>
            <a:endParaRPr i="0" sz="1659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g3fba0141005_3_290"/>
          <p:cNvSpPr txBox="1"/>
          <p:nvPr/>
        </p:nvSpPr>
        <p:spPr>
          <a:xfrm>
            <a:off x="5580430" y="8341771"/>
            <a:ext cx="84498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659"/>
              <a:buFont typeface="Arial"/>
              <a:buNone/>
            </a:pPr>
            <a:r>
              <a:rPr i="0" lang="en-US" sz="165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multi-jump when further capture exists</a:t>
            </a:r>
            <a:endParaRPr i="0" sz="165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3" name="Google Shape;213;g3fba0141005_3_290"/>
          <p:cNvCxnSpPr/>
          <p:nvPr/>
        </p:nvCxnSpPr>
        <p:spPr>
          <a:xfrm>
            <a:off x="2094749" y="8921100"/>
            <a:ext cx="12041700" cy="0"/>
          </a:xfrm>
          <a:prstGeom prst="straightConnector1">
            <a:avLst/>
          </a:prstGeom>
          <a:noFill/>
          <a:ln cap="flat" cmpd="sng" w="1437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g3fba0141005_3_290"/>
          <p:cNvSpPr txBox="1"/>
          <p:nvPr/>
        </p:nvSpPr>
        <p:spPr>
          <a:xfrm>
            <a:off x="2517255" y="8921100"/>
            <a:ext cx="29574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1659"/>
              <a:buFont typeface="Arial"/>
              <a:buNone/>
            </a:pPr>
            <a:r>
              <a:rPr b="1" i="0" lang="en-US" sz="165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Promotion</a:t>
            </a:r>
            <a:endParaRPr i="0" sz="165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g3fba0141005_3_290"/>
          <p:cNvSpPr txBox="1"/>
          <p:nvPr/>
        </p:nvSpPr>
        <p:spPr>
          <a:xfrm>
            <a:off x="5580430" y="8921100"/>
            <a:ext cx="84498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659"/>
              <a:buFont typeface="Arial"/>
              <a:buNone/>
            </a:pPr>
            <a:r>
              <a:rPr i="0" lang="en-US" sz="165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reach opponent's back row → king</a:t>
            </a:r>
            <a:endParaRPr i="0" sz="165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g3fba0141005_3_290"/>
          <p:cNvSpPr txBox="1"/>
          <p:nvPr/>
        </p:nvSpPr>
        <p:spPr>
          <a:xfrm>
            <a:off x="7004159" y="2444575"/>
            <a:ext cx="5258700" cy="9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75"/>
              </a:buClr>
              <a:buSzPts val="3893"/>
              <a:buFont typeface="Arial"/>
              <a:buNone/>
            </a:pP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01:Board Details</a:t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75"/>
              </a:buClr>
              <a:buSzPts val="3893"/>
              <a:buFont typeface="Arial"/>
              <a:buNone/>
            </a:pPr>
            <a:r>
              <a:t/>
            </a:r>
            <a:endParaRPr b="1" sz="1650">
              <a:solidFill>
                <a:schemeClr val="dk1"/>
              </a:solidFill>
            </a:endParaRPr>
          </a:p>
        </p:txBody>
      </p:sp>
      <p:sp>
        <p:nvSpPr>
          <p:cNvPr id="217" name="Google Shape;217;g3fba0141005_3_290"/>
          <p:cNvSpPr txBox="1"/>
          <p:nvPr/>
        </p:nvSpPr>
        <p:spPr>
          <a:xfrm>
            <a:off x="7061013" y="6072675"/>
            <a:ext cx="5258700" cy="9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75"/>
              </a:buClr>
              <a:buSzPts val="3893"/>
              <a:buFont typeface="Arial"/>
              <a:buNone/>
            </a:pPr>
            <a:r>
              <a:rPr lang="en-US" sz="169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02:Game Rules</a:t>
            </a:r>
            <a:endParaRPr sz="169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75"/>
              </a:buClr>
              <a:buSzPts val="3893"/>
              <a:buFont typeface="Arial"/>
              <a:buNone/>
            </a:pPr>
            <a:r>
              <a:t/>
            </a:r>
            <a:endParaRPr b="1" sz="3193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ba0141005_3_153"/>
          <p:cNvSpPr txBox="1"/>
          <p:nvPr/>
        </p:nvSpPr>
        <p:spPr>
          <a:xfrm>
            <a:off x="16728733" y="9803582"/>
            <a:ext cx="1242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9"/>
              <a:buFont typeface="Arial"/>
              <a:buNone/>
            </a:pPr>
            <a:r>
              <a:rPr lang="en-US" sz="2059">
                <a:solidFill>
                  <a:srgbClr val="6B7280"/>
                </a:solidFill>
              </a:rPr>
              <a:t>6</a:t>
            </a:r>
            <a:r>
              <a:rPr b="0" i="0" lang="en-US" sz="2059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59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/ 11</a:t>
            </a:r>
            <a:endParaRPr b="0" i="0" sz="20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ba0141005_3_153"/>
          <p:cNvSpPr txBox="1"/>
          <p:nvPr/>
        </p:nvSpPr>
        <p:spPr>
          <a:xfrm>
            <a:off x="2605025" y="1796850"/>
            <a:ext cx="113205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75"/>
              </a:buClr>
              <a:buSzPts val="3893"/>
              <a:buFont typeface="Arial"/>
              <a:buNone/>
            </a:pPr>
            <a:r>
              <a:rPr b="1" i="0" lang="en-US" sz="3193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Greedy — One-Ply Best-First</a:t>
            </a:r>
            <a:endParaRPr i="0" sz="3193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g3fba0141005_3_153"/>
          <p:cNvSpPr txBox="1"/>
          <p:nvPr/>
        </p:nvSpPr>
        <p:spPr>
          <a:xfrm>
            <a:off x="4690837" y="2699046"/>
            <a:ext cx="8490600" cy="8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595"/>
              <a:buFont typeface="Arial"/>
              <a:buNone/>
            </a:pPr>
            <a:r>
              <a:rPr i="0" lang="en-US" sz="25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Enumerate legal moves</a:t>
            </a:r>
            <a:endParaRPr i="0" sz="259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5" name="Google Shape;225;g3fba0141005_3_153"/>
          <p:cNvCxnSpPr/>
          <p:nvPr/>
        </p:nvCxnSpPr>
        <p:spPr>
          <a:xfrm>
            <a:off x="8936135" y="3535331"/>
            <a:ext cx="0" cy="231900"/>
          </a:xfrm>
          <a:prstGeom prst="straightConnector1">
            <a:avLst/>
          </a:prstGeom>
          <a:noFill/>
          <a:ln cap="flat" cmpd="sng" w="274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" name="Google Shape;226;g3fba0141005_3_153"/>
          <p:cNvCxnSpPr/>
          <p:nvPr/>
        </p:nvCxnSpPr>
        <p:spPr>
          <a:xfrm>
            <a:off x="8936135" y="4594977"/>
            <a:ext cx="0" cy="231900"/>
          </a:xfrm>
          <a:prstGeom prst="straightConnector1">
            <a:avLst/>
          </a:prstGeom>
          <a:noFill/>
          <a:ln cap="flat" cmpd="sng" w="274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7" name="Google Shape;227;g3fba0141005_3_153"/>
          <p:cNvSpPr txBox="1"/>
          <p:nvPr/>
        </p:nvSpPr>
        <p:spPr>
          <a:xfrm>
            <a:off x="4690837" y="4824662"/>
            <a:ext cx="8490600" cy="8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595"/>
              <a:buFont typeface="Arial"/>
              <a:buNone/>
            </a:pPr>
            <a:r>
              <a:rPr i="0" lang="en-US" sz="25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with static evaluator</a:t>
            </a:r>
            <a:endParaRPr i="0" sz="259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8" name="Google Shape;228;g3fba0141005_3_153"/>
          <p:cNvCxnSpPr/>
          <p:nvPr/>
        </p:nvCxnSpPr>
        <p:spPr>
          <a:xfrm>
            <a:off x="8936135" y="5654623"/>
            <a:ext cx="0" cy="231900"/>
          </a:xfrm>
          <a:prstGeom prst="straightConnector1">
            <a:avLst/>
          </a:prstGeom>
          <a:noFill/>
          <a:ln cap="flat" cmpd="sng" w="274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9" name="Google Shape;229;g3fba0141005_3_153"/>
          <p:cNvSpPr txBox="1"/>
          <p:nvPr/>
        </p:nvSpPr>
        <p:spPr>
          <a:xfrm>
            <a:off x="4690912" y="5885358"/>
            <a:ext cx="8490600" cy="8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595"/>
              <a:buFont typeface="Arial"/>
              <a:buNone/>
            </a:pPr>
            <a:r>
              <a:rPr i="0" lang="en-US" sz="25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Pick argmax (tie-break: first)</a:t>
            </a:r>
            <a:endParaRPr i="0" sz="259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0" name="Google Shape;230;g3fba0141005_3_153"/>
          <p:cNvCxnSpPr/>
          <p:nvPr/>
        </p:nvCxnSpPr>
        <p:spPr>
          <a:xfrm>
            <a:off x="8936135" y="6714268"/>
            <a:ext cx="0" cy="231900"/>
          </a:xfrm>
          <a:prstGeom prst="straightConnector1">
            <a:avLst/>
          </a:prstGeom>
          <a:noFill/>
          <a:ln cap="flat" cmpd="sng" w="274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1" name="Google Shape;231;g3fba0141005_3_153"/>
          <p:cNvSpPr txBox="1"/>
          <p:nvPr/>
        </p:nvSpPr>
        <p:spPr>
          <a:xfrm>
            <a:off x="4690837" y="6923487"/>
            <a:ext cx="8490600" cy="8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595"/>
              <a:buFont typeface="Arial"/>
              <a:buNone/>
            </a:pPr>
            <a:r>
              <a:rPr i="0" lang="en-US" sz="25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move + node count = |M|</a:t>
            </a:r>
            <a:endParaRPr i="0" sz="259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g3fba0141005_3_153"/>
          <p:cNvSpPr txBox="1"/>
          <p:nvPr/>
        </p:nvSpPr>
        <p:spPr>
          <a:xfrm>
            <a:off x="4819937" y="8171281"/>
            <a:ext cx="4056300" cy="8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B75"/>
              </a:buClr>
              <a:buSzPts val="2595"/>
              <a:buFont typeface="Arial"/>
              <a:buNone/>
            </a:pPr>
            <a:r>
              <a:rPr b="1" i="0" lang="en-US" sz="25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1 ms / move</a:t>
            </a:r>
            <a:endParaRPr i="0" sz="259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g3fba0141005_3_153"/>
          <p:cNvSpPr txBox="1"/>
          <p:nvPr/>
        </p:nvSpPr>
        <p:spPr>
          <a:xfrm>
            <a:off x="9094889" y="8171281"/>
            <a:ext cx="4056300" cy="8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7F1B"/>
              </a:buClr>
              <a:buSzPts val="2595"/>
              <a:buFont typeface="Arial"/>
              <a:buNone/>
            </a:pPr>
            <a:r>
              <a:rPr b="1" i="0" lang="en-US" sz="2595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lookahead</a:t>
            </a:r>
            <a:endParaRPr i="0" sz="2595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g3fba0141005_3_153"/>
          <p:cNvSpPr txBox="1"/>
          <p:nvPr/>
        </p:nvSpPr>
        <p:spPr>
          <a:xfrm>
            <a:off x="4690837" y="3762908"/>
            <a:ext cx="8490600" cy="8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595"/>
              <a:buFont typeface="Arial"/>
              <a:buNone/>
            </a:pPr>
            <a:r>
              <a:rPr lang="en-US" sz="259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each move to a copy</a:t>
            </a:r>
            <a:endParaRPr sz="259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g3fba0141005_3_153"/>
          <p:cNvSpPr txBox="1"/>
          <p:nvPr/>
        </p:nvSpPr>
        <p:spPr>
          <a:xfrm>
            <a:off x="1218476" y="912969"/>
            <a:ext cx="86658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700">
                <a:solidFill>
                  <a:srgbClr val="1B2E4A"/>
                </a:solidFill>
              </a:rPr>
              <a:t>Greedy Baseline</a:t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32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6" name="Google Shape;236;g3fba0141005_3_153"/>
          <p:cNvCxnSpPr/>
          <p:nvPr/>
        </p:nvCxnSpPr>
        <p:spPr>
          <a:xfrm rot="10800000">
            <a:off x="1047750" y="932355"/>
            <a:ext cx="0" cy="453600"/>
          </a:xfrm>
          <a:prstGeom prst="straightConnector1">
            <a:avLst/>
          </a:prstGeom>
          <a:noFill/>
          <a:ln cap="flat" cmpd="sng" w="666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ba0141005_0_290"/>
          <p:cNvSpPr txBox="1"/>
          <p:nvPr/>
        </p:nvSpPr>
        <p:spPr>
          <a:xfrm>
            <a:off x="16728733" y="9803582"/>
            <a:ext cx="1242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9"/>
              <a:buFont typeface="Arial"/>
              <a:buNone/>
            </a:pPr>
            <a:r>
              <a:rPr lang="en-US" sz="2059">
                <a:solidFill>
                  <a:srgbClr val="6B7280"/>
                </a:solidFill>
              </a:rPr>
              <a:t>7</a:t>
            </a:r>
            <a:r>
              <a:rPr b="0" i="0" lang="en-US" sz="2059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/ 11</a:t>
            </a:r>
            <a:endParaRPr b="0" i="0" sz="20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fba0141005_0_290"/>
          <p:cNvSpPr txBox="1"/>
          <p:nvPr/>
        </p:nvSpPr>
        <p:spPr>
          <a:xfrm>
            <a:off x="2605025" y="1796850"/>
            <a:ext cx="113205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75"/>
              </a:buClr>
              <a:buSzPts val="3893"/>
              <a:buFont typeface="Arial"/>
              <a:buNone/>
            </a:pPr>
            <a:r>
              <a:rPr b="1" lang="en-US" sz="319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Minimax — Full-Depth Search</a:t>
            </a:r>
            <a:endParaRPr b="1" sz="319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g3fba0141005_0_290"/>
          <p:cNvSpPr txBox="1"/>
          <p:nvPr/>
        </p:nvSpPr>
        <p:spPr>
          <a:xfrm>
            <a:off x="4690837" y="2699046"/>
            <a:ext cx="8490600" cy="8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595"/>
              <a:buFont typeface="Arial"/>
              <a:buNone/>
            </a:pPr>
            <a:r>
              <a:rPr lang="en-US" sz="259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Root: current board state</a:t>
            </a:r>
            <a:endParaRPr sz="259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4" name="Google Shape;244;g3fba0141005_0_290"/>
          <p:cNvCxnSpPr/>
          <p:nvPr/>
        </p:nvCxnSpPr>
        <p:spPr>
          <a:xfrm>
            <a:off x="8936135" y="3535331"/>
            <a:ext cx="0" cy="231900"/>
          </a:xfrm>
          <a:prstGeom prst="straightConnector1">
            <a:avLst/>
          </a:prstGeom>
          <a:noFill/>
          <a:ln cap="flat" cmpd="sng" w="274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" name="Google Shape;245;g3fba0141005_0_290"/>
          <p:cNvCxnSpPr/>
          <p:nvPr/>
        </p:nvCxnSpPr>
        <p:spPr>
          <a:xfrm>
            <a:off x="8936135" y="4594977"/>
            <a:ext cx="0" cy="231900"/>
          </a:xfrm>
          <a:prstGeom prst="straightConnector1">
            <a:avLst/>
          </a:prstGeom>
          <a:noFill/>
          <a:ln cap="flat" cmpd="sng" w="274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" name="Google Shape;246;g3fba0141005_0_290"/>
          <p:cNvSpPr txBox="1"/>
          <p:nvPr/>
        </p:nvSpPr>
        <p:spPr>
          <a:xfrm>
            <a:off x="4690837" y="4824662"/>
            <a:ext cx="8490600" cy="8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595"/>
              <a:buFont typeface="Arial"/>
              <a:buNone/>
            </a:pPr>
            <a:r>
              <a:rPr lang="en-US" sz="259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Recurse to depth d</a:t>
            </a:r>
            <a:endParaRPr sz="259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7" name="Google Shape;247;g3fba0141005_0_290"/>
          <p:cNvCxnSpPr/>
          <p:nvPr/>
        </p:nvCxnSpPr>
        <p:spPr>
          <a:xfrm>
            <a:off x="8936135" y="5654623"/>
            <a:ext cx="0" cy="231900"/>
          </a:xfrm>
          <a:prstGeom prst="straightConnector1">
            <a:avLst/>
          </a:prstGeom>
          <a:noFill/>
          <a:ln cap="flat" cmpd="sng" w="274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8" name="Google Shape;248;g3fba0141005_0_290"/>
          <p:cNvSpPr txBox="1"/>
          <p:nvPr/>
        </p:nvSpPr>
        <p:spPr>
          <a:xfrm>
            <a:off x="4690912" y="5885358"/>
            <a:ext cx="8490600" cy="8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595"/>
              <a:buFont typeface="Arial"/>
              <a:buNone/>
            </a:pPr>
            <a:r>
              <a:rPr lang="en-US" sz="259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eval at leaves</a:t>
            </a:r>
            <a:endParaRPr sz="259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9" name="Google Shape;249;g3fba0141005_0_290"/>
          <p:cNvCxnSpPr/>
          <p:nvPr/>
        </p:nvCxnSpPr>
        <p:spPr>
          <a:xfrm>
            <a:off x="8936135" y="6714268"/>
            <a:ext cx="0" cy="231900"/>
          </a:xfrm>
          <a:prstGeom prst="straightConnector1">
            <a:avLst/>
          </a:prstGeom>
          <a:noFill/>
          <a:ln cap="flat" cmpd="sng" w="274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0" name="Google Shape;250;g3fba0141005_0_290"/>
          <p:cNvSpPr txBox="1"/>
          <p:nvPr/>
        </p:nvSpPr>
        <p:spPr>
          <a:xfrm>
            <a:off x="4690837" y="6923487"/>
            <a:ext cx="8490600" cy="8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595"/>
              <a:buFont typeface="Arial"/>
              <a:buNone/>
            </a:pPr>
            <a:r>
              <a:rPr lang="en-US" sz="259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up min / max values</a:t>
            </a:r>
            <a:endParaRPr sz="259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g3fba0141005_0_290"/>
          <p:cNvSpPr txBox="1"/>
          <p:nvPr/>
        </p:nvSpPr>
        <p:spPr>
          <a:xfrm>
            <a:off x="4690837" y="3762908"/>
            <a:ext cx="8490600" cy="8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595"/>
              <a:buFont typeface="Arial"/>
              <a:buNone/>
            </a:pPr>
            <a:r>
              <a:rPr lang="en-US" sz="259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all legal moves</a:t>
            </a:r>
            <a:endParaRPr sz="259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g3fba0141005_0_290"/>
          <p:cNvSpPr txBox="1"/>
          <p:nvPr/>
        </p:nvSpPr>
        <p:spPr>
          <a:xfrm>
            <a:off x="1218476" y="912969"/>
            <a:ext cx="86658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700">
                <a:solidFill>
                  <a:schemeClr val="dk1"/>
                </a:solidFill>
              </a:rPr>
              <a:t>Minimax</a:t>
            </a:r>
            <a:r>
              <a:rPr b="1" lang="en-US" sz="3700">
                <a:solidFill>
                  <a:srgbClr val="1B2E4A"/>
                </a:solidFill>
              </a:rPr>
              <a:t> Baseline</a:t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32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3" name="Google Shape;253;g3fba0141005_0_290"/>
          <p:cNvCxnSpPr/>
          <p:nvPr/>
        </p:nvCxnSpPr>
        <p:spPr>
          <a:xfrm rot="10800000">
            <a:off x="1047750" y="932355"/>
            <a:ext cx="0" cy="453600"/>
          </a:xfrm>
          <a:prstGeom prst="straightConnector1">
            <a:avLst/>
          </a:prstGeom>
          <a:noFill/>
          <a:ln cap="flat" cmpd="sng" w="666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g3fba0141005_0_290"/>
          <p:cNvSpPr txBox="1"/>
          <p:nvPr/>
        </p:nvSpPr>
        <p:spPr>
          <a:xfrm>
            <a:off x="4690875" y="7961608"/>
            <a:ext cx="8490600" cy="8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595"/>
              <a:buFont typeface="Arial"/>
              <a:buNone/>
            </a:pPr>
            <a:r>
              <a:rPr lang="en-US" sz="259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best move</a:t>
            </a:r>
            <a:endParaRPr sz="259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g3fba0141005_0_290"/>
          <p:cNvSpPr txBox="1"/>
          <p:nvPr/>
        </p:nvSpPr>
        <p:spPr>
          <a:xfrm>
            <a:off x="4690800" y="8999737"/>
            <a:ext cx="8490600" cy="8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595"/>
              <a:buFont typeface="Arial"/>
              <a:buNone/>
            </a:pPr>
            <a:r>
              <a:rPr lang="en-US" sz="259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Complexity: O(b^d)  ·  depth-limited</a:t>
            </a:r>
            <a:endParaRPr sz="259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6" name="Google Shape;256;g3fba0141005_0_290"/>
          <p:cNvCxnSpPr/>
          <p:nvPr/>
        </p:nvCxnSpPr>
        <p:spPr>
          <a:xfrm>
            <a:off x="8968745" y="7735149"/>
            <a:ext cx="0" cy="231900"/>
          </a:xfrm>
          <a:prstGeom prst="straightConnector1">
            <a:avLst/>
          </a:prstGeom>
          <a:noFill/>
          <a:ln cap="flat" cmpd="sng" w="274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ba0141005_3_312"/>
          <p:cNvSpPr txBox="1"/>
          <p:nvPr/>
        </p:nvSpPr>
        <p:spPr>
          <a:xfrm>
            <a:off x="16728733" y="9803582"/>
            <a:ext cx="1242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9"/>
              <a:buFont typeface="Arial"/>
              <a:buNone/>
            </a:pPr>
            <a:r>
              <a:rPr lang="en-US" sz="2059">
                <a:solidFill>
                  <a:srgbClr val="6B7280"/>
                </a:solidFill>
              </a:rPr>
              <a:t>8</a:t>
            </a:r>
            <a:r>
              <a:rPr b="0" i="0" lang="en-US" sz="2059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/ 11</a:t>
            </a:r>
            <a:endParaRPr b="0" i="0" sz="20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fba0141005_3_312"/>
          <p:cNvSpPr txBox="1"/>
          <p:nvPr/>
        </p:nvSpPr>
        <p:spPr>
          <a:xfrm>
            <a:off x="3339629" y="1911465"/>
            <a:ext cx="100410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7F1B"/>
              </a:buClr>
              <a:buSzPts val="3294"/>
              <a:buFont typeface="Arial"/>
              <a:buNone/>
            </a:pPr>
            <a:r>
              <a:rPr b="1" i="0" lang="en-US" sz="3294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Alpha-Beta — Pruned Search</a:t>
            </a:r>
            <a:endParaRPr i="0" sz="3294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g3fba0141005_3_312"/>
          <p:cNvSpPr txBox="1"/>
          <p:nvPr/>
        </p:nvSpPr>
        <p:spPr>
          <a:xfrm>
            <a:off x="4698739" y="2714968"/>
            <a:ext cx="9287700" cy="17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87F1B"/>
              </a:buClr>
              <a:buSzPts val="2379"/>
              <a:buFont typeface="Arial"/>
              <a:buNone/>
            </a:pPr>
            <a:r>
              <a:rPr b="1" i="0" lang="en-US" sz="2379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Windowed search:  </a:t>
            </a:r>
            <a:r>
              <a:rPr i="0" lang="en-US" sz="219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 = best score MAX can force</a:t>
            </a:r>
            <a:br>
              <a:rPr i="0" lang="en-US" sz="219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19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β = best score MIN can force</a:t>
            </a:r>
            <a:endParaRPr i="0" sz="237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2196"/>
              <a:buFont typeface="Arial"/>
              <a:buNone/>
            </a:pPr>
            <a:r>
              <a:rPr i="0" lang="en-US" sz="219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Prune when α ≥ β — the subtree can't change the answer.</a:t>
            </a:r>
            <a:endParaRPr i="0" sz="2379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4" name="Google Shape;264;g3fba0141005_3_312"/>
          <p:cNvCxnSpPr/>
          <p:nvPr/>
        </p:nvCxnSpPr>
        <p:spPr>
          <a:xfrm flipH="1">
            <a:off x="6288357" y="5149194"/>
            <a:ext cx="3054300" cy="1121100"/>
          </a:xfrm>
          <a:prstGeom prst="straightConnector1">
            <a:avLst/>
          </a:prstGeom>
          <a:noFill/>
          <a:ln cap="flat" cmpd="sng" w="174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g3fba0141005_3_312"/>
          <p:cNvCxnSpPr/>
          <p:nvPr/>
        </p:nvCxnSpPr>
        <p:spPr>
          <a:xfrm>
            <a:off x="9342657" y="5149194"/>
            <a:ext cx="0" cy="1121100"/>
          </a:xfrm>
          <a:prstGeom prst="straightConnector1">
            <a:avLst/>
          </a:prstGeom>
          <a:noFill/>
          <a:ln cap="flat" cmpd="sng" w="174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g3fba0141005_3_312"/>
          <p:cNvCxnSpPr/>
          <p:nvPr/>
        </p:nvCxnSpPr>
        <p:spPr>
          <a:xfrm>
            <a:off x="9342657" y="5149194"/>
            <a:ext cx="3054300" cy="1121100"/>
          </a:xfrm>
          <a:prstGeom prst="straightConnector1">
            <a:avLst/>
          </a:prstGeom>
          <a:noFill/>
          <a:ln cap="flat" cmpd="sng" w="174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g3fba0141005_3_312"/>
          <p:cNvCxnSpPr/>
          <p:nvPr/>
        </p:nvCxnSpPr>
        <p:spPr>
          <a:xfrm flipH="1">
            <a:off x="5368432" y="6571654"/>
            <a:ext cx="920100" cy="1205100"/>
          </a:xfrm>
          <a:prstGeom prst="straightConnector1">
            <a:avLst/>
          </a:prstGeom>
          <a:noFill/>
          <a:ln cap="flat" cmpd="sng" w="174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g3fba0141005_3_312"/>
          <p:cNvCxnSpPr/>
          <p:nvPr/>
        </p:nvCxnSpPr>
        <p:spPr>
          <a:xfrm>
            <a:off x="6288532" y="6571654"/>
            <a:ext cx="167400" cy="1205100"/>
          </a:xfrm>
          <a:prstGeom prst="straightConnector1">
            <a:avLst/>
          </a:prstGeom>
          <a:noFill/>
          <a:ln cap="flat" cmpd="sng" w="174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g3fba0141005_3_312"/>
          <p:cNvCxnSpPr/>
          <p:nvPr/>
        </p:nvCxnSpPr>
        <p:spPr>
          <a:xfrm>
            <a:off x="6288532" y="6571654"/>
            <a:ext cx="1255200" cy="1205100"/>
          </a:xfrm>
          <a:prstGeom prst="straightConnector1">
            <a:avLst/>
          </a:prstGeom>
          <a:noFill/>
          <a:ln cap="flat" cmpd="sng" w="174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g3fba0141005_3_312"/>
          <p:cNvCxnSpPr/>
          <p:nvPr/>
        </p:nvCxnSpPr>
        <p:spPr>
          <a:xfrm flipH="1">
            <a:off x="8254857" y="6541707"/>
            <a:ext cx="1087800" cy="1205100"/>
          </a:xfrm>
          <a:prstGeom prst="straightConnector1">
            <a:avLst/>
          </a:prstGeom>
          <a:noFill/>
          <a:ln cap="flat" cmpd="sng" w="174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g3fba0141005_3_312"/>
          <p:cNvCxnSpPr/>
          <p:nvPr/>
        </p:nvCxnSpPr>
        <p:spPr>
          <a:xfrm>
            <a:off x="9342657" y="6571654"/>
            <a:ext cx="0" cy="1205100"/>
          </a:xfrm>
          <a:prstGeom prst="straightConnector1">
            <a:avLst/>
          </a:prstGeom>
          <a:noFill/>
          <a:ln cap="flat" cmpd="sng" w="174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g3fba0141005_3_312"/>
          <p:cNvCxnSpPr/>
          <p:nvPr/>
        </p:nvCxnSpPr>
        <p:spPr>
          <a:xfrm>
            <a:off x="9342657" y="6571654"/>
            <a:ext cx="1087800" cy="1205100"/>
          </a:xfrm>
          <a:prstGeom prst="straightConnector1">
            <a:avLst/>
          </a:prstGeom>
          <a:noFill/>
          <a:ln cap="flat" cmpd="sng" w="174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g3fba0141005_3_312"/>
          <p:cNvCxnSpPr/>
          <p:nvPr/>
        </p:nvCxnSpPr>
        <p:spPr>
          <a:xfrm flipH="1">
            <a:off x="11171530" y="6526733"/>
            <a:ext cx="1255200" cy="1205100"/>
          </a:xfrm>
          <a:prstGeom prst="straightConnector1">
            <a:avLst/>
          </a:prstGeom>
          <a:noFill/>
          <a:ln cap="flat" cmpd="sng" w="174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g3fba0141005_3_312"/>
          <p:cNvCxnSpPr/>
          <p:nvPr/>
        </p:nvCxnSpPr>
        <p:spPr>
          <a:xfrm flipH="1">
            <a:off x="12229382" y="6571654"/>
            <a:ext cx="167400" cy="1205100"/>
          </a:xfrm>
          <a:prstGeom prst="straightConnector1">
            <a:avLst/>
          </a:prstGeom>
          <a:noFill/>
          <a:ln cap="flat" cmpd="sng" w="174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g3fba0141005_3_312"/>
          <p:cNvCxnSpPr/>
          <p:nvPr/>
        </p:nvCxnSpPr>
        <p:spPr>
          <a:xfrm>
            <a:off x="12396782" y="6571654"/>
            <a:ext cx="920100" cy="1205100"/>
          </a:xfrm>
          <a:prstGeom prst="straightConnector1">
            <a:avLst/>
          </a:prstGeom>
          <a:noFill/>
          <a:ln cap="flat" cmpd="sng" w="174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g3fba0141005_3_312"/>
          <p:cNvSpPr/>
          <p:nvPr/>
        </p:nvSpPr>
        <p:spPr>
          <a:xfrm>
            <a:off x="9041429" y="4546741"/>
            <a:ext cx="602400" cy="602400"/>
          </a:xfrm>
          <a:prstGeom prst="ellipse">
            <a:avLst/>
          </a:prstGeom>
          <a:solidFill>
            <a:schemeClr val="lt1"/>
          </a:solidFill>
          <a:ln cap="flat" cmpd="sng" w="2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325" lIns="167325" spcFirstLastPara="1" rIns="167325" wrap="square" tIns="16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ba0141005_3_312"/>
          <p:cNvSpPr txBox="1"/>
          <p:nvPr/>
        </p:nvSpPr>
        <p:spPr>
          <a:xfrm>
            <a:off x="8974539" y="4532178"/>
            <a:ext cx="7362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7F1B"/>
              </a:buClr>
              <a:buSzPts val="1647"/>
              <a:buFont typeface="Arial"/>
              <a:buNone/>
            </a:pPr>
            <a:r>
              <a:rPr b="1" i="0" lang="en-US" sz="164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</a:t>
            </a:r>
            <a:endParaRPr b="0" i="0" sz="16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fba0141005_3_312"/>
          <p:cNvSpPr/>
          <p:nvPr/>
        </p:nvSpPr>
        <p:spPr>
          <a:xfrm>
            <a:off x="5987304" y="5969201"/>
            <a:ext cx="602400" cy="602400"/>
          </a:xfrm>
          <a:prstGeom prst="ellipse">
            <a:avLst/>
          </a:prstGeom>
          <a:solidFill>
            <a:schemeClr val="lt1"/>
          </a:solidFill>
          <a:ln cap="flat" cmpd="sng" w="29050">
            <a:solidFill>
              <a:srgbClr val="1F35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325" lIns="167325" spcFirstLastPara="1" rIns="167325" wrap="square" tIns="16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fba0141005_3_312"/>
          <p:cNvSpPr txBox="1"/>
          <p:nvPr/>
        </p:nvSpPr>
        <p:spPr>
          <a:xfrm>
            <a:off x="5913384" y="5957741"/>
            <a:ext cx="7362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552"/>
              </a:buClr>
              <a:buSzPts val="1647"/>
              <a:buFont typeface="Arial"/>
              <a:buNone/>
            </a:pPr>
            <a:r>
              <a:rPr b="1" i="0" lang="en-US" sz="164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6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ba0141005_3_312"/>
          <p:cNvSpPr/>
          <p:nvPr/>
        </p:nvSpPr>
        <p:spPr>
          <a:xfrm>
            <a:off x="5066883" y="7475334"/>
            <a:ext cx="602400" cy="602400"/>
          </a:xfrm>
          <a:prstGeom prst="ellipse">
            <a:avLst/>
          </a:prstGeom>
          <a:solidFill>
            <a:schemeClr val="lt1"/>
          </a:solidFill>
          <a:ln cap="flat" cmpd="sng" w="2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325" lIns="167325" spcFirstLastPara="1" rIns="167325" wrap="square" tIns="16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fba0141005_3_312"/>
          <p:cNvSpPr/>
          <p:nvPr/>
        </p:nvSpPr>
        <p:spPr>
          <a:xfrm>
            <a:off x="9041429" y="7475334"/>
            <a:ext cx="602400" cy="602400"/>
          </a:xfrm>
          <a:prstGeom prst="ellipse">
            <a:avLst/>
          </a:prstGeom>
          <a:solidFill>
            <a:srgbClr val="F3F4F6"/>
          </a:solidFill>
          <a:ln cap="flat" cmpd="sng" w="2905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325" lIns="167325" spcFirstLastPara="1" rIns="167325" wrap="square" tIns="16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fba0141005_3_312"/>
          <p:cNvSpPr txBox="1"/>
          <p:nvPr/>
        </p:nvSpPr>
        <p:spPr>
          <a:xfrm>
            <a:off x="8974489" y="7441865"/>
            <a:ext cx="7362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647"/>
              <a:buFont typeface="Arial"/>
              <a:buNone/>
            </a:pPr>
            <a:r>
              <a:rPr b="1" i="0" lang="en-US" sz="1647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16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fba0141005_3_312"/>
          <p:cNvSpPr/>
          <p:nvPr/>
        </p:nvSpPr>
        <p:spPr>
          <a:xfrm>
            <a:off x="10129199" y="7475334"/>
            <a:ext cx="602400" cy="602400"/>
          </a:xfrm>
          <a:prstGeom prst="ellipse">
            <a:avLst/>
          </a:prstGeom>
          <a:solidFill>
            <a:srgbClr val="F3F4F6"/>
          </a:solidFill>
          <a:ln cap="flat" cmpd="sng" w="2905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325" lIns="167325" spcFirstLastPara="1" rIns="167325" wrap="square" tIns="16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fba0141005_3_312"/>
          <p:cNvSpPr txBox="1"/>
          <p:nvPr/>
        </p:nvSpPr>
        <p:spPr>
          <a:xfrm>
            <a:off x="10062260" y="7441865"/>
            <a:ext cx="7362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647"/>
              <a:buFont typeface="Arial"/>
              <a:buNone/>
            </a:pPr>
            <a:r>
              <a:rPr b="1" i="0" lang="en-US" sz="1647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16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ba0141005_3_312"/>
          <p:cNvSpPr/>
          <p:nvPr/>
        </p:nvSpPr>
        <p:spPr>
          <a:xfrm>
            <a:off x="11928204" y="7475334"/>
            <a:ext cx="602400" cy="602400"/>
          </a:xfrm>
          <a:prstGeom prst="ellipse">
            <a:avLst/>
          </a:prstGeom>
          <a:solidFill>
            <a:srgbClr val="F3F4F6"/>
          </a:solidFill>
          <a:ln cap="flat" cmpd="sng" w="2905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325" lIns="167325" spcFirstLastPara="1" rIns="167325" wrap="square" tIns="16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ba0141005_3_312"/>
          <p:cNvSpPr txBox="1"/>
          <p:nvPr/>
        </p:nvSpPr>
        <p:spPr>
          <a:xfrm>
            <a:off x="11861265" y="7441865"/>
            <a:ext cx="7362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647"/>
              <a:buFont typeface="Arial"/>
              <a:buNone/>
            </a:pPr>
            <a:r>
              <a:rPr b="1" i="0" lang="en-US" sz="1647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16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ba0141005_3_312"/>
          <p:cNvSpPr/>
          <p:nvPr/>
        </p:nvSpPr>
        <p:spPr>
          <a:xfrm>
            <a:off x="13015975" y="7475334"/>
            <a:ext cx="602400" cy="602400"/>
          </a:xfrm>
          <a:prstGeom prst="ellipse">
            <a:avLst/>
          </a:prstGeom>
          <a:solidFill>
            <a:srgbClr val="F3F4F6"/>
          </a:solidFill>
          <a:ln cap="flat" cmpd="sng" w="2905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325" lIns="167325" spcFirstLastPara="1" rIns="167325" wrap="square" tIns="16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fba0141005_3_312"/>
          <p:cNvSpPr txBox="1"/>
          <p:nvPr/>
        </p:nvSpPr>
        <p:spPr>
          <a:xfrm>
            <a:off x="12949035" y="7441865"/>
            <a:ext cx="7362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647"/>
              <a:buFont typeface="Arial"/>
              <a:buNone/>
            </a:pPr>
            <a:r>
              <a:rPr b="1" i="0" lang="en-US" sz="1647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16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ba0141005_3_312"/>
          <p:cNvSpPr txBox="1"/>
          <p:nvPr/>
        </p:nvSpPr>
        <p:spPr>
          <a:xfrm>
            <a:off x="4444140" y="8915526"/>
            <a:ext cx="9789900" cy="92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7F1B"/>
              </a:buClr>
              <a:buSzPts val="2196"/>
              <a:buFont typeface="Arial"/>
              <a:buNone/>
            </a:pPr>
            <a:r>
              <a:rPr b="1" i="0" lang="en-US" sz="219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Complexity: </a:t>
            </a:r>
            <a:r>
              <a:rPr i="0" lang="en-US" sz="2196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O(b^{d/2})  in the best case — same answer, deeper reach.</a:t>
            </a:r>
            <a:endParaRPr i="0" sz="2196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g3fba0141005_3_312"/>
          <p:cNvSpPr/>
          <p:nvPr/>
        </p:nvSpPr>
        <p:spPr>
          <a:xfrm>
            <a:off x="9041454" y="6140926"/>
            <a:ext cx="602400" cy="602400"/>
          </a:xfrm>
          <a:prstGeom prst="ellipse">
            <a:avLst/>
          </a:prstGeom>
          <a:solidFill>
            <a:schemeClr val="lt1"/>
          </a:solidFill>
          <a:ln cap="flat" cmpd="sng" w="29050">
            <a:solidFill>
              <a:srgbClr val="1F35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325" lIns="167325" spcFirstLastPara="1" rIns="167325" wrap="square" tIns="16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fba0141005_3_312"/>
          <p:cNvSpPr txBox="1"/>
          <p:nvPr/>
        </p:nvSpPr>
        <p:spPr>
          <a:xfrm>
            <a:off x="8970999" y="6107487"/>
            <a:ext cx="7362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552"/>
              </a:buClr>
              <a:buSzPts val="1647"/>
              <a:buFont typeface="Arial"/>
              <a:buNone/>
            </a:pPr>
            <a:r>
              <a:rPr b="1" i="0" lang="en-US" sz="164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6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ba0141005_3_312"/>
          <p:cNvSpPr/>
          <p:nvPr/>
        </p:nvSpPr>
        <p:spPr>
          <a:xfrm>
            <a:off x="12028629" y="6140926"/>
            <a:ext cx="602400" cy="602400"/>
          </a:xfrm>
          <a:prstGeom prst="ellipse">
            <a:avLst/>
          </a:prstGeom>
          <a:solidFill>
            <a:schemeClr val="lt1"/>
          </a:solidFill>
          <a:ln cap="flat" cmpd="sng" w="29050">
            <a:solidFill>
              <a:srgbClr val="1F35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325" lIns="167325" spcFirstLastPara="1" rIns="167325" wrap="square" tIns="16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3" name="Google Shape;293;g3fba0141005_3_312"/>
          <p:cNvSpPr txBox="1"/>
          <p:nvPr/>
        </p:nvSpPr>
        <p:spPr>
          <a:xfrm>
            <a:off x="11959938" y="6111918"/>
            <a:ext cx="7362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552"/>
              </a:buClr>
              <a:buSzPts val="1647"/>
              <a:buFont typeface="Arial"/>
              <a:buNone/>
            </a:pPr>
            <a:r>
              <a:rPr b="1" i="0" lang="en-US" sz="164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 b="0" i="0" sz="16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ba0141005_3_312"/>
          <p:cNvSpPr txBox="1"/>
          <p:nvPr/>
        </p:nvSpPr>
        <p:spPr>
          <a:xfrm>
            <a:off x="5007887" y="7441865"/>
            <a:ext cx="736200" cy="669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7F1B"/>
              </a:buClr>
              <a:buSzPts val="1647"/>
              <a:buFont typeface="Arial"/>
              <a:buNone/>
            </a:pPr>
            <a:r>
              <a:rPr b="1" i="0" lang="en-US" sz="164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ba0141005_3_312"/>
          <p:cNvSpPr/>
          <p:nvPr/>
        </p:nvSpPr>
        <p:spPr>
          <a:xfrm>
            <a:off x="6117711" y="7627734"/>
            <a:ext cx="602400" cy="602400"/>
          </a:xfrm>
          <a:prstGeom prst="ellipse">
            <a:avLst/>
          </a:prstGeom>
          <a:solidFill>
            <a:schemeClr val="lt1"/>
          </a:solidFill>
          <a:ln cap="flat" cmpd="sng" w="2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325" lIns="167325" spcFirstLastPara="1" rIns="167325" wrap="square" tIns="16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fba0141005_3_312"/>
          <p:cNvSpPr txBox="1"/>
          <p:nvPr/>
        </p:nvSpPr>
        <p:spPr>
          <a:xfrm>
            <a:off x="6058715" y="7594265"/>
            <a:ext cx="736200" cy="669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7F1B"/>
              </a:buClr>
              <a:buSzPts val="1647"/>
              <a:buFont typeface="Arial"/>
              <a:buNone/>
            </a:pPr>
            <a:r>
              <a:rPr b="1" lang="en-US" sz="1647">
                <a:solidFill>
                  <a:schemeClr val="dk1"/>
                </a:solidFill>
              </a:rPr>
              <a:t>12</a:t>
            </a:r>
            <a:endParaRPr b="0" i="0" sz="16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ba0141005_3_312"/>
          <p:cNvSpPr/>
          <p:nvPr/>
        </p:nvSpPr>
        <p:spPr>
          <a:xfrm>
            <a:off x="7168539" y="7780134"/>
            <a:ext cx="602400" cy="602400"/>
          </a:xfrm>
          <a:prstGeom prst="ellipse">
            <a:avLst/>
          </a:prstGeom>
          <a:solidFill>
            <a:schemeClr val="lt1"/>
          </a:solidFill>
          <a:ln cap="flat" cmpd="sng" w="2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325" lIns="167325" spcFirstLastPara="1" rIns="167325" wrap="square" tIns="16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fba0141005_3_312"/>
          <p:cNvSpPr txBox="1"/>
          <p:nvPr/>
        </p:nvSpPr>
        <p:spPr>
          <a:xfrm>
            <a:off x="7109543" y="7746665"/>
            <a:ext cx="736200" cy="669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7F1B"/>
              </a:buClr>
              <a:buSzPts val="1647"/>
              <a:buFont typeface="Arial"/>
              <a:buNone/>
            </a:pPr>
            <a:r>
              <a:rPr b="1" lang="en-US" sz="1647">
                <a:solidFill>
                  <a:schemeClr val="dk1"/>
                </a:solidFill>
              </a:rPr>
              <a:t>8</a:t>
            </a:r>
            <a:endParaRPr b="1" sz="1647">
              <a:solidFill>
                <a:schemeClr val="dk1"/>
              </a:solidFill>
            </a:endParaRPr>
          </a:p>
        </p:txBody>
      </p:sp>
      <p:sp>
        <p:nvSpPr>
          <p:cNvPr id="299" name="Google Shape;299;g3fba0141005_3_312"/>
          <p:cNvSpPr/>
          <p:nvPr/>
        </p:nvSpPr>
        <p:spPr>
          <a:xfrm>
            <a:off x="7845022" y="7767823"/>
            <a:ext cx="602400" cy="602400"/>
          </a:xfrm>
          <a:prstGeom prst="ellipse">
            <a:avLst/>
          </a:prstGeom>
          <a:solidFill>
            <a:schemeClr val="lt1"/>
          </a:solidFill>
          <a:ln cap="flat" cmpd="sng" w="2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325" lIns="167325" spcFirstLastPara="1" rIns="167325" wrap="square" tIns="16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fba0141005_3_312"/>
          <p:cNvSpPr txBox="1"/>
          <p:nvPr/>
        </p:nvSpPr>
        <p:spPr>
          <a:xfrm>
            <a:off x="7786026" y="7734353"/>
            <a:ext cx="736200" cy="669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7F1B"/>
              </a:buClr>
              <a:buSzPts val="1647"/>
              <a:buFont typeface="Arial"/>
              <a:buNone/>
            </a:pPr>
            <a:r>
              <a:rPr b="1" i="0" lang="en-US" sz="164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ba0141005_3_312"/>
          <p:cNvSpPr/>
          <p:nvPr/>
        </p:nvSpPr>
        <p:spPr>
          <a:xfrm>
            <a:off x="10767575" y="7665668"/>
            <a:ext cx="602400" cy="602400"/>
          </a:xfrm>
          <a:prstGeom prst="ellipse">
            <a:avLst/>
          </a:prstGeom>
          <a:solidFill>
            <a:schemeClr val="lt1"/>
          </a:solidFill>
          <a:ln cap="flat" cmpd="sng" w="2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325" lIns="167325" spcFirstLastPara="1" rIns="167325" wrap="square" tIns="167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ba0141005_3_312"/>
          <p:cNvSpPr txBox="1"/>
          <p:nvPr/>
        </p:nvSpPr>
        <p:spPr>
          <a:xfrm>
            <a:off x="10708579" y="7632198"/>
            <a:ext cx="736200" cy="669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7F1B"/>
              </a:buClr>
              <a:buSzPts val="1647"/>
              <a:buFont typeface="Arial"/>
              <a:buNone/>
            </a:pPr>
            <a:r>
              <a:rPr b="1" lang="en-US" sz="1647">
                <a:solidFill>
                  <a:schemeClr val="dk1"/>
                </a:solidFill>
              </a:rPr>
              <a:t>14</a:t>
            </a:r>
            <a:endParaRPr b="0" i="0" sz="164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ba0141005_3_312"/>
          <p:cNvSpPr txBox="1"/>
          <p:nvPr/>
        </p:nvSpPr>
        <p:spPr>
          <a:xfrm>
            <a:off x="1218476" y="912969"/>
            <a:ext cx="86658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94">
                <a:solidFill>
                  <a:schemeClr val="dk1"/>
                </a:solidFill>
              </a:rPr>
              <a:t>Alpha-Beta</a:t>
            </a:r>
            <a:r>
              <a:rPr b="1" lang="en-US" sz="3700">
                <a:solidFill>
                  <a:srgbClr val="1B2E4A"/>
                </a:solidFill>
              </a:rPr>
              <a:t> Baseline</a:t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32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04" name="Google Shape;304;g3fba0141005_3_312"/>
          <p:cNvCxnSpPr/>
          <p:nvPr/>
        </p:nvCxnSpPr>
        <p:spPr>
          <a:xfrm rot="10800000">
            <a:off x="1047750" y="932355"/>
            <a:ext cx="0" cy="453600"/>
          </a:xfrm>
          <a:prstGeom prst="straightConnector1">
            <a:avLst/>
          </a:prstGeom>
          <a:noFill/>
          <a:ln cap="flat" cmpd="sng" w="666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g3fba0141005_0_179"/>
          <p:cNvGrpSpPr/>
          <p:nvPr/>
        </p:nvGrpSpPr>
        <p:grpSpPr>
          <a:xfrm>
            <a:off x="17057337" y="5635815"/>
            <a:ext cx="201981" cy="201981"/>
            <a:chOff x="0" y="0"/>
            <a:chExt cx="812800" cy="812800"/>
          </a:xfrm>
        </p:grpSpPr>
        <p:sp>
          <p:nvSpPr>
            <p:cNvPr id="310" name="Google Shape;310;g3fba0141005_0_17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g3fba0141005_0_179"/>
            <p:cNvSpPr txBox="1"/>
            <p:nvPr/>
          </p:nvSpPr>
          <p:spPr>
            <a:xfrm>
              <a:off x="76200" y="9525"/>
              <a:ext cx="660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g3fba0141005_0_179"/>
          <p:cNvSpPr txBox="1"/>
          <p:nvPr/>
        </p:nvSpPr>
        <p:spPr>
          <a:xfrm>
            <a:off x="6281370" y="7585631"/>
            <a:ext cx="341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ba0141005_0_179"/>
          <p:cNvSpPr txBox="1"/>
          <p:nvPr/>
        </p:nvSpPr>
        <p:spPr>
          <a:xfrm>
            <a:off x="1218475" y="912974"/>
            <a:ext cx="7363500" cy="29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1B2E4A"/>
                </a:solidFill>
              </a:rPr>
              <a:t>Live Demonstration </a:t>
            </a:r>
            <a:endParaRPr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32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14" name="Google Shape;314;g3fba0141005_0_179"/>
          <p:cNvCxnSpPr/>
          <p:nvPr/>
        </p:nvCxnSpPr>
        <p:spPr>
          <a:xfrm rot="10800000">
            <a:off x="1047750" y="932355"/>
            <a:ext cx="0" cy="453600"/>
          </a:xfrm>
          <a:prstGeom prst="straightConnector1">
            <a:avLst/>
          </a:prstGeom>
          <a:noFill/>
          <a:ln cap="flat" cmpd="sng" w="666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g3fba0141005_0_179"/>
          <p:cNvSpPr txBox="1"/>
          <p:nvPr/>
        </p:nvSpPr>
        <p:spPr>
          <a:xfrm>
            <a:off x="16728733" y="9803582"/>
            <a:ext cx="1242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9"/>
              <a:buFont typeface="Arial"/>
              <a:buNone/>
            </a:pPr>
            <a:r>
              <a:rPr lang="en-US" sz="2059">
                <a:solidFill>
                  <a:srgbClr val="6B7280"/>
                </a:solidFill>
              </a:rPr>
              <a:t>9</a:t>
            </a:r>
            <a:r>
              <a:rPr b="0" i="0" lang="en-US" sz="2059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/ 11</a:t>
            </a:r>
            <a:endParaRPr b="0" i="0" sz="20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fba0141005_0_179"/>
          <p:cNvSpPr/>
          <p:nvPr/>
        </p:nvSpPr>
        <p:spPr>
          <a:xfrm>
            <a:off x="17144158" y="2798176"/>
            <a:ext cx="132000" cy="132000"/>
          </a:xfrm>
          <a:prstGeom prst="ellipse">
            <a:avLst/>
          </a:prstGeom>
          <a:solidFill>
            <a:srgbClr val="FFFFFF"/>
          </a:solidFill>
          <a:ln cap="flat" cmpd="sng" w="13725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1850" lIns="131850" spcFirstLastPara="1" rIns="131850" wrap="square" tIns="131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ba0141005_0_179"/>
          <p:cNvSpPr/>
          <p:nvPr/>
        </p:nvSpPr>
        <p:spPr>
          <a:xfrm>
            <a:off x="1118075" y="2868799"/>
            <a:ext cx="5340300" cy="648420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1832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1850" lIns="131850" spcFirstLastPara="1" rIns="131850" wrap="square" tIns="131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krosh/shot1_setup.png" id="318" name="Google Shape;318;g3fba0141005_0_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5870" y="3092394"/>
            <a:ext cx="4944863" cy="350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9" name="Google Shape;319;g3fba0141005_0_179"/>
          <p:cNvCxnSpPr/>
          <p:nvPr/>
        </p:nvCxnSpPr>
        <p:spPr>
          <a:xfrm>
            <a:off x="1381801" y="6744456"/>
            <a:ext cx="4812900" cy="0"/>
          </a:xfrm>
          <a:prstGeom prst="straightConnector1">
            <a:avLst/>
          </a:prstGeom>
          <a:noFill/>
          <a:ln cap="flat" cmpd="sng" w="137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g3fba0141005_0_179"/>
          <p:cNvSpPr txBox="1"/>
          <p:nvPr/>
        </p:nvSpPr>
        <p:spPr>
          <a:xfrm>
            <a:off x="1381801" y="6818988"/>
            <a:ext cx="4812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019"/>
              <a:buFont typeface="Arial"/>
              <a:buNone/>
            </a:pPr>
            <a:r>
              <a:rPr b="1" i="0" lang="en-US" sz="2019" u="none" cap="none" strike="noStrike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· New-Game Setup</a:t>
            </a:r>
            <a:endParaRPr i="0" sz="2019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g3fba0141005_0_179"/>
          <p:cNvSpPr txBox="1"/>
          <p:nvPr/>
        </p:nvSpPr>
        <p:spPr>
          <a:xfrm>
            <a:off x="1381801" y="7489775"/>
            <a:ext cx="4812900" cy="17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586"/>
              <a:buFont typeface="Arial"/>
              <a:buNone/>
            </a:pPr>
            <a:r>
              <a:rPr i="0" lang="en-US" sz="1586" u="none" cap="none" strike="noStrik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opponent, engine (random / greedy / minimax / alpha-beta), and which colour plays first.</a:t>
            </a:r>
            <a:endParaRPr i="0" sz="158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g3fba0141005_0_179"/>
          <p:cNvSpPr/>
          <p:nvPr/>
        </p:nvSpPr>
        <p:spPr>
          <a:xfrm>
            <a:off x="6656324" y="2868799"/>
            <a:ext cx="5340300" cy="648420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1832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1850" lIns="131850" spcFirstLastPara="1" rIns="131850" wrap="square" tIns="131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krosh/shot2_start.png" id="323" name="Google Shape;323;g3fba0141005_0_1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4119" y="3092394"/>
            <a:ext cx="4944863" cy="35029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4" name="Google Shape;324;g3fba0141005_0_179"/>
          <p:cNvCxnSpPr/>
          <p:nvPr/>
        </p:nvCxnSpPr>
        <p:spPr>
          <a:xfrm>
            <a:off x="6920050" y="6744456"/>
            <a:ext cx="4812900" cy="0"/>
          </a:xfrm>
          <a:prstGeom prst="straightConnector1">
            <a:avLst/>
          </a:prstGeom>
          <a:noFill/>
          <a:ln cap="flat" cmpd="sng" w="137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g3fba0141005_0_179"/>
          <p:cNvSpPr txBox="1"/>
          <p:nvPr/>
        </p:nvSpPr>
        <p:spPr>
          <a:xfrm>
            <a:off x="6920050" y="6818988"/>
            <a:ext cx="4812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019"/>
              <a:buFont typeface="Arial"/>
              <a:buNone/>
            </a:pPr>
            <a:r>
              <a:rPr b="1" i="0" lang="en-US" sz="2019" u="none" cap="none" strike="noStrike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· Starting Position</a:t>
            </a:r>
            <a:endParaRPr i="0" sz="2019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g3fba0141005_0_179"/>
          <p:cNvSpPr txBox="1"/>
          <p:nvPr/>
        </p:nvSpPr>
        <p:spPr>
          <a:xfrm>
            <a:off x="6920050" y="7489775"/>
            <a:ext cx="4812900" cy="17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586"/>
              <a:buFont typeface="Arial"/>
              <a:buNone/>
            </a:pPr>
            <a:r>
              <a:rPr i="0" lang="en-US" sz="1586" u="none" cap="none" strike="noStrik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men each side, 0 kings. Sidebar tracks piece counts and search stats; Undo · Restart · Change opponent available.</a:t>
            </a:r>
            <a:endParaRPr i="0" sz="158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g3fba0141005_0_179"/>
          <p:cNvSpPr/>
          <p:nvPr/>
        </p:nvSpPr>
        <p:spPr>
          <a:xfrm>
            <a:off x="12194573" y="2868799"/>
            <a:ext cx="5340300" cy="6484200"/>
          </a:xfrm>
          <a:prstGeom prst="roundRect">
            <a:avLst>
              <a:gd fmla="val 1975" name="adj"/>
            </a:avLst>
          </a:prstGeom>
          <a:solidFill>
            <a:srgbClr val="FFFFFF"/>
          </a:solidFill>
          <a:ln cap="flat" cmpd="sng" w="1832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1850" lIns="131850" spcFirstLastPara="1" rIns="131850" wrap="square" tIns="131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krosh/shot3_move.png" id="328" name="Google Shape;328;g3fba0141005_0_1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92368" y="3092394"/>
            <a:ext cx="4944863" cy="35029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9" name="Google Shape;329;g3fba0141005_0_179"/>
          <p:cNvCxnSpPr/>
          <p:nvPr/>
        </p:nvCxnSpPr>
        <p:spPr>
          <a:xfrm>
            <a:off x="12458300" y="6744456"/>
            <a:ext cx="4812900" cy="0"/>
          </a:xfrm>
          <a:prstGeom prst="straightConnector1">
            <a:avLst/>
          </a:prstGeom>
          <a:noFill/>
          <a:ln cap="flat" cmpd="sng" w="137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g3fba0141005_0_179"/>
          <p:cNvSpPr txBox="1"/>
          <p:nvPr/>
        </p:nvSpPr>
        <p:spPr>
          <a:xfrm>
            <a:off x="12458300" y="6818988"/>
            <a:ext cx="48129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2019"/>
              <a:buFont typeface="Arial"/>
              <a:buNone/>
            </a:pPr>
            <a:r>
              <a:rPr b="1" i="0" lang="en-US" sz="2019" u="none" cap="none" strike="noStrike">
                <a:solidFill>
                  <a:srgbClr val="1B2E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· Greedy Move Played</a:t>
            </a:r>
            <a:endParaRPr i="0" sz="2019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g3fba0141005_0_179"/>
          <p:cNvSpPr txBox="1"/>
          <p:nvPr/>
        </p:nvSpPr>
        <p:spPr>
          <a:xfrm>
            <a:off x="12458300" y="7489775"/>
            <a:ext cx="4812900" cy="17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586"/>
              <a:buFont typeface="Arial"/>
              <a:buNone/>
            </a:pPr>
            <a:r>
              <a:rPr i="0" lang="en-US" sz="1586" u="none" cap="none" strike="noStrike">
                <a:solidFill>
                  <a:srgbClr val="2D374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Player 1 (greedy) plays 56-45 in 1.2 ms after visiting 7 nodes; move ledger and search stats update in real time.</a:t>
            </a:r>
            <a:endParaRPr i="0" sz="1586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2" name="Google Shape;332;g3fba0141005_0_1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5875" y="3092400"/>
            <a:ext cx="4944850" cy="34948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fba0141005_0_1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54125" y="3092400"/>
            <a:ext cx="4944850" cy="3504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g3fba0141005_0_17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392225" y="3092400"/>
            <a:ext cx="4812900" cy="3448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reencoded.png" id="339" name="Google Shape;339;g3fba0141005_3_507"/>
          <p:cNvSpPr/>
          <p:nvPr/>
        </p:nvSpPr>
        <p:spPr>
          <a:xfrm>
            <a:off x="1019175" y="5708221"/>
            <a:ext cx="16242030" cy="56007"/>
          </a:xfrm>
          <a:custGeom>
            <a:rect b="b" l="l" r="r" t="t"/>
            <a:pathLst>
              <a:path extrusionOk="0" h="76200" w="22098000">
                <a:moveTo>
                  <a:pt x="0" y="0"/>
                </a:moveTo>
                <a:lnTo>
                  <a:pt x="22098000" y="0"/>
                </a:lnTo>
                <a:lnTo>
                  <a:pt x="22098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</p:sp>
      <p:sp>
        <p:nvSpPr>
          <p:cNvPr descr="preencoded.png" id="340" name="Google Shape;340;g3fba0141005_3_507"/>
          <p:cNvSpPr/>
          <p:nvPr/>
        </p:nvSpPr>
        <p:spPr>
          <a:xfrm>
            <a:off x="1028700" y="5708221"/>
            <a:ext cx="8286750" cy="57150"/>
          </a:xfrm>
          <a:custGeom>
            <a:rect b="b" l="l" r="r" t="t"/>
            <a:pathLst>
              <a:path extrusionOk="0" h="76200" w="11049000">
                <a:moveTo>
                  <a:pt x="0" y="0"/>
                </a:moveTo>
                <a:lnTo>
                  <a:pt x="11049000" y="0"/>
                </a:lnTo>
                <a:lnTo>
                  <a:pt x="11049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grpSp>
        <p:nvGrpSpPr>
          <p:cNvPr id="341" name="Google Shape;341;g3fba0141005_3_507"/>
          <p:cNvGrpSpPr/>
          <p:nvPr/>
        </p:nvGrpSpPr>
        <p:grpSpPr>
          <a:xfrm>
            <a:off x="1019175" y="5635815"/>
            <a:ext cx="201981" cy="201981"/>
            <a:chOff x="0" y="0"/>
            <a:chExt cx="812800" cy="812800"/>
          </a:xfrm>
        </p:grpSpPr>
        <p:sp>
          <p:nvSpPr>
            <p:cNvPr id="342" name="Google Shape;342;g3fba0141005_3_50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g3fba0141005_3_507"/>
            <p:cNvSpPr txBox="1"/>
            <p:nvPr/>
          </p:nvSpPr>
          <p:spPr>
            <a:xfrm>
              <a:off x="76200" y="9525"/>
              <a:ext cx="660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4" name="Google Shape;344;g3fba0141005_3_507"/>
          <p:cNvGrpSpPr/>
          <p:nvPr/>
        </p:nvGrpSpPr>
        <p:grpSpPr>
          <a:xfrm>
            <a:off x="6503561" y="5635815"/>
            <a:ext cx="201981" cy="201981"/>
            <a:chOff x="0" y="0"/>
            <a:chExt cx="812800" cy="812800"/>
          </a:xfrm>
        </p:grpSpPr>
        <p:sp>
          <p:nvSpPr>
            <p:cNvPr id="345" name="Google Shape;345;g3fba0141005_3_50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g3fba0141005_3_507"/>
            <p:cNvSpPr txBox="1"/>
            <p:nvPr/>
          </p:nvSpPr>
          <p:spPr>
            <a:xfrm>
              <a:off x="76200" y="9525"/>
              <a:ext cx="660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" name="Google Shape;347;g3fba0141005_3_507"/>
          <p:cNvGrpSpPr/>
          <p:nvPr/>
        </p:nvGrpSpPr>
        <p:grpSpPr>
          <a:xfrm>
            <a:off x="12014819" y="5635815"/>
            <a:ext cx="201981" cy="201981"/>
            <a:chOff x="0" y="0"/>
            <a:chExt cx="812800" cy="812800"/>
          </a:xfrm>
        </p:grpSpPr>
        <p:sp>
          <p:nvSpPr>
            <p:cNvPr id="348" name="Google Shape;348;g3fba0141005_3_50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g3fba0141005_3_507"/>
            <p:cNvSpPr txBox="1"/>
            <p:nvPr/>
          </p:nvSpPr>
          <p:spPr>
            <a:xfrm>
              <a:off x="76200" y="9525"/>
              <a:ext cx="660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" name="Google Shape;350;g3fba0141005_3_507"/>
          <p:cNvGrpSpPr/>
          <p:nvPr/>
        </p:nvGrpSpPr>
        <p:grpSpPr>
          <a:xfrm>
            <a:off x="17057337" y="5635815"/>
            <a:ext cx="201981" cy="201981"/>
            <a:chOff x="0" y="0"/>
            <a:chExt cx="812800" cy="812800"/>
          </a:xfrm>
        </p:grpSpPr>
        <p:sp>
          <p:nvSpPr>
            <p:cNvPr id="351" name="Google Shape;351;g3fba0141005_3_50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g3fba0141005_3_507"/>
            <p:cNvSpPr txBox="1"/>
            <p:nvPr/>
          </p:nvSpPr>
          <p:spPr>
            <a:xfrm>
              <a:off x="76200" y="9525"/>
              <a:ext cx="660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g3fba0141005_3_507"/>
          <p:cNvSpPr txBox="1"/>
          <p:nvPr/>
        </p:nvSpPr>
        <p:spPr>
          <a:xfrm>
            <a:off x="1028700" y="4665234"/>
            <a:ext cx="274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1: </a:t>
            </a:r>
            <a:r>
              <a:rPr b="1" lang="en-US" sz="1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The Board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g3fba0141005_3_507"/>
          <p:cNvSpPr txBox="1"/>
          <p:nvPr/>
        </p:nvSpPr>
        <p:spPr>
          <a:xfrm>
            <a:off x="1028700" y="5074809"/>
            <a:ext cx="22638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10B9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g3fba0141005_3_507"/>
          <p:cNvSpPr txBox="1"/>
          <p:nvPr/>
        </p:nvSpPr>
        <p:spPr>
          <a:xfrm>
            <a:off x="5614307" y="4665234"/>
            <a:ext cx="251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</a:t>
            </a:r>
            <a:r>
              <a:rPr b="1" lang="en-US" sz="1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i="0" lang="en-US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b="1" lang="en-US" sz="1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 MinMax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g3fba0141005_3_507"/>
          <p:cNvSpPr txBox="1"/>
          <p:nvPr/>
        </p:nvSpPr>
        <p:spPr>
          <a:xfrm>
            <a:off x="5614307" y="5074809"/>
            <a:ext cx="24132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75">
                <a:solidFill>
                  <a:srgbClr val="10B9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75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g3fba0141005_3_507"/>
          <p:cNvSpPr txBox="1"/>
          <p:nvPr/>
        </p:nvSpPr>
        <p:spPr>
          <a:xfrm>
            <a:off x="9927775" y="4686441"/>
            <a:ext cx="306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</a:t>
            </a:r>
            <a:r>
              <a:rPr b="1" lang="en-US" sz="1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1" i="0" lang="en-US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lang="en-US" sz="1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g3fba0141005_3_507"/>
          <p:cNvSpPr txBox="1"/>
          <p:nvPr/>
        </p:nvSpPr>
        <p:spPr>
          <a:xfrm>
            <a:off x="9927775" y="5096016"/>
            <a:ext cx="25005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Upcoming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g3fba0141005_3_507"/>
          <p:cNvSpPr txBox="1"/>
          <p:nvPr/>
        </p:nvSpPr>
        <p:spPr>
          <a:xfrm>
            <a:off x="13458825" y="4665234"/>
            <a:ext cx="312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</a:t>
            </a:r>
            <a:r>
              <a:rPr b="1" lang="en-US" sz="1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b="1" i="0" lang="en-US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lang="en-US" sz="1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vs Human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0" name="Google Shape;360;g3fba0141005_3_507"/>
          <p:cNvSpPr txBox="1"/>
          <p:nvPr/>
        </p:nvSpPr>
        <p:spPr>
          <a:xfrm>
            <a:off x="13458825" y="5074809"/>
            <a:ext cx="26229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Upcoming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g3fba0141005_3_507"/>
          <p:cNvSpPr txBox="1"/>
          <p:nvPr/>
        </p:nvSpPr>
        <p:spPr>
          <a:xfrm>
            <a:off x="1641021" y="6498796"/>
            <a:ext cx="30699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2: Add Greedy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5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Google Shape;362;g3fba0141005_3_507"/>
          <p:cNvSpPr txBox="1"/>
          <p:nvPr/>
        </p:nvSpPr>
        <p:spPr>
          <a:xfrm>
            <a:off x="1641034" y="7005405"/>
            <a:ext cx="30699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10B9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g3fba0141005_3_507"/>
          <p:cNvSpPr txBox="1"/>
          <p:nvPr/>
        </p:nvSpPr>
        <p:spPr>
          <a:xfrm>
            <a:off x="6740618" y="6422603"/>
            <a:ext cx="29793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4: Add AlphaBeta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5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Google Shape;364;g3fba0141005_3_507"/>
          <p:cNvSpPr txBox="1"/>
          <p:nvPr/>
        </p:nvSpPr>
        <p:spPr>
          <a:xfrm>
            <a:off x="6740610" y="6998859"/>
            <a:ext cx="35766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75">
                <a:solidFill>
                  <a:srgbClr val="10B98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75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Google Shape;365;g3fba0141005_3_507"/>
          <p:cNvSpPr txBox="1"/>
          <p:nvPr/>
        </p:nvSpPr>
        <p:spPr>
          <a:xfrm>
            <a:off x="6604542" y="7432246"/>
            <a:ext cx="341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3fba0141005_3_507"/>
          <p:cNvSpPr txBox="1"/>
          <p:nvPr/>
        </p:nvSpPr>
        <p:spPr>
          <a:xfrm>
            <a:off x="11853182" y="6498796"/>
            <a:ext cx="30387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6: Hybrid Phase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25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7" name="Google Shape;367;g3fba0141005_3_507"/>
          <p:cNvSpPr txBox="1"/>
          <p:nvPr/>
        </p:nvSpPr>
        <p:spPr>
          <a:xfrm>
            <a:off x="11853182" y="7075059"/>
            <a:ext cx="3699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Upcoming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68" name="Google Shape;368;g3fba0141005_3_507"/>
          <p:cNvCxnSpPr/>
          <p:nvPr/>
        </p:nvCxnSpPr>
        <p:spPr>
          <a:xfrm>
            <a:off x="1028700" y="6432121"/>
            <a:ext cx="4973100" cy="0"/>
          </a:xfrm>
          <a:prstGeom prst="straightConnector1">
            <a:avLst/>
          </a:prstGeom>
          <a:noFill/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g3fba0141005_3_507"/>
          <p:cNvCxnSpPr/>
          <p:nvPr/>
        </p:nvCxnSpPr>
        <p:spPr>
          <a:xfrm>
            <a:off x="6572250" y="6422596"/>
            <a:ext cx="4973100" cy="0"/>
          </a:xfrm>
          <a:prstGeom prst="straightConnector1">
            <a:avLst/>
          </a:prstGeom>
          <a:noFill/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g3fba0141005_3_507"/>
          <p:cNvCxnSpPr/>
          <p:nvPr/>
        </p:nvCxnSpPr>
        <p:spPr>
          <a:xfrm>
            <a:off x="12125325" y="6422596"/>
            <a:ext cx="4973100" cy="0"/>
          </a:xfrm>
          <a:prstGeom prst="straightConnector1">
            <a:avLst/>
          </a:prstGeom>
          <a:noFill/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g3fba0141005_3_507"/>
          <p:cNvSpPr txBox="1"/>
          <p:nvPr/>
        </p:nvSpPr>
        <p:spPr>
          <a:xfrm>
            <a:off x="1218476" y="912969"/>
            <a:ext cx="86658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700">
                <a:solidFill>
                  <a:srgbClr val="1B2E4A"/>
                </a:solidFill>
              </a:rPr>
              <a:t>Timeline Review</a:t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32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2" name="Google Shape;372;g3fba0141005_3_507"/>
          <p:cNvCxnSpPr/>
          <p:nvPr/>
        </p:nvCxnSpPr>
        <p:spPr>
          <a:xfrm rot="10800000">
            <a:off x="1047750" y="932355"/>
            <a:ext cx="0" cy="453600"/>
          </a:xfrm>
          <a:prstGeom prst="straightConnector1">
            <a:avLst/>
          </a:prstGeom>
          <a:noFill/>
          <a:ln cap="flat" cmpd="sng" w="666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g3fba0141005_3_507"/>
          <p:cNvSpPr txBox="1"/>
          <p:nvPr/>
        </p:nvSpPr>
        <p:spPr>
          <a:xfrm>
            <a:off x="16728733" y="9803582"/>
            <a:ext cx="1242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9"/>
              <a:buFont typeface="Arial"/>
              <a:buNone/>
            </a:pPr>
            <a:r>
              <a:rPr lang="en-US" sz="2059">
                <a:solidFill>
                  <a:srgbClr val="6B7280"/>
                </a:solidFill>
              </a:rPr>
              <a:t>10</a:t>
            </a:r>
            <a:r>
              <a:rPr b="0" i="0" lang="en-US" sz="2059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/ 11</a:t>
            </a:r>
            <a:endParaRPr b="0" i="0" sz="20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ba0141005_3_548"/>
          <p:cNvSpPr txBox="1"/>
          <p:nvPr/>
        </p:nvSpPr>
        <p:spPr>
          <a:xfrm>
            <a:off x="7838545" y="3936087"/>
            <a:ext cx="86658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700">
                <a:solidFill>
                  <a:srgbClr val="1B2E4A"/>
                </a:solidFill>
              </a:rPr>
              <a:t>Thank You</a:t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32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9" name="Google Shape;379;g3fba0141005_3_548"/>
          <p:cNvCxnSpPr/>
          <p:nvPr/>
        </p:nvCxnSpPr>
        <p:spPr>
          <a:xfrm rot="10800000">
            <a:off x="7667819" y="3955473"/>
            <a:ext cx="0" cy="453600"/>
          </a:xfrm>
          <a:prstGeom prst="straightConnector1">
            <a:avLst/>
          </a:prstGeom>
          <a:noFill/>
          <a:ln cap="flat" cmpd="sng" w="666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0" name="Google Shape;380;g3fba0141005_3_548"/>
          <p:cNvSpPr txBox="1"/>
          <p:nvPr/>
        </p:nvSpPr>
        <p:spPr>
          <a:xfrm>
            <a:off x="16728733" y="9803582"/>
            <a:ext cx="1242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9"/>
              <a:buFont typeface="Arial"/>
              <a:buNone/>
            </a:pPr>
            <a:r>
              <a:rPr lang="en-US" sz="2059">
                <a:solidFill>
                  <a:srgbClr val="6B7280"/>
                </a:solidFill>
              </a:rPr>
              <a:t>11</a:t>
            </a:r>
            <a:r>
              <a:rPr b="0" i="0" lang="en-US" sz="2059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/ 11</a:t>
            </a:r>
            <a:endParaRPr b="0" i="0" sz="20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3fba0141005_3_548"/>
          <p:cNvSpPr txBox="1"/>
          <p:nvPr/>
        </p:nvSpPr>
        <p:spPr>
          <a:xfrm>
            <a:off x="7179194" y="4690312"/>
            <a:ext cx="86658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700">
                <a:solidFill>
                  <a:srgbClr val="1B2E4A"/>
                </a:solidFill>
              </a:rPr>
              <a:t>Any Questions?</a:t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E4A"/>
              </a:buClr>
              <a:buSzPts val="3200"/>
              <a:buFont typeface="Arial"/>
              <a:buNone/>
            </a:pPr>
            <a:r>
              <a:t/>
            </a:r>
            <a:endParaRPr b="1" sz="3700">
              <a:solidFill>
                <a:srgbClr val="1B2E4A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82" name="Google Shape;382;g3fba0141005_3_548"/>
          <p:cNvCxnSpPr/>
          <p:nvPr/>
        </p:nvCxnSpPr>
        <p:spPr>
          <a:xfrm rot="10800000">
            <a:off x="7008467" y="4709698"/>
            <a:ext cx="0" cy="453600"/>
          </a:xfrm>
          <a:prstGeom prst="straightConnector1">
            <a:avLst/>
          </a:prstGeom>
          <a:noFill/>
          <a:ln cap="flat" cmpd="sng" w="666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